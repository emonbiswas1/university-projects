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3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A664-70B0-06F2-4DC1-4FB723CD0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3B929-AD41-D4DB-15FB-77213E83C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6F5D4-82AF-1397-104C-935B0CEB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DF637-B3B2-1716-1BAA-BECF4DD4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A5DFE-2AAC-0397-B05C-178841DD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23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A77F-CB59-EF44-C2F8-19EC93C8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860BA-D5E8-6189-1A1A-C68E6D8D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B9D0-84A4-35AB-1E6C-37183D2D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2A8BD-7E73-5206-011F-C209A652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0859-03D4-56D1-22AE-594EA98A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28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29437-3D14-5D41-42BE-DA69267F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17D12-FAA8-1306-3AE6-19188B5D3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57F99-A7FF-5C9C-2A96-40CC479F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66AD-CE3C-8ED5-6951-D47F5187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9D945-77C7-F5E1-4657-B67B89BD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47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056E-DAB5-B7D0-D806-DB14DB7E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831-C673-9011-B181-A1924FE49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C323B-ADC7-5CE5-664F-850EBA53C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1AFD2-5616-CCD1-9CF9-D462E23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1DBF5-EF23-5FF8-93E4-1A1293BA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27CC7-AAD2-5064-89D8-29EEAB86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54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1A73-181E-8EFA-28E7-4BA81257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F2362-75FC-99D4-3A7C-731FB2CCA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5A443-0AFF-4A82-0103-A641B82B4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0E05B-F680-1ABF-9E5F-466618C64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0950E-2579-A945-C2DC-041C3C151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872AB-F9C3-788F-7495-B9640C2C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84303-269D-B4E5-4FA6-C9DCFBD8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0164B-D6FF-7052-5D5F-24D54EBE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8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1A6D-FCCA-5407-BE3B-FD77824C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6EB48-B3B8-CF0F-DA92-01728A3E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D79B1-DDB8-52B7-696A-B82C10A3A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72C23-EA60-2333-492A-DA200102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422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ABCD6-B99D-6DB0-91A5-813B0D85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B9AFD-0289-29FC-5079-F1C62FC4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0F3E-AC8F-2C20-2A39-DD0FF22E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35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1E1B-2F4B-A698-213B-4D986C6A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29CA-E836-9464-A614-A7DF0FB17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4D53D-88F3-5499-9A45-1FBBCB332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606D0-DAA4-2657-0F70-0B363A94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CF918-182D-62C3-9749-9551D3CC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522BE-B265-605C-A7B2-2C261BF6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1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BF39-46EB-1F03-F7BB-723EAF7A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A9B38-2CF4-4C2E-CD82-1F494F779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D5DD0-07C4-1D41-86E0-17E27D5D4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E17AF-2515-47B8-5DF1-EA6E711F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93760-EFE8-8FB7-B0B8-C44AFE33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39CA3-8830-BB4A-BD04-F490B5D7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16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38CD-4A1A-30FF-3B99-A80E790D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FD826-A321-75CA-04C2-0D0C1476B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8C420-56B4-EEBE-F5B4-3975B162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9D5B7-FC8F-D8C6-7E8F-8FFD1DA8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B2595-D790-86C9-39BE-96075E0C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31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D762A-7B48-A959-6E6E-72737416F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54FA4-3C7E-D88C-2C99-F5A5C81ED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EC976-10DD-E61E-FACF-48F8D847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C24D3-0962-D82E-6368-CE350AD2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AD03D-BF6D-7484-ABA1-65598715B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10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714BED-D9D1-4F8A-C2EA-986F327E2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9B294-D7A7-5614-73FA-7178E0E7B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7BB77-7A0C-BE5B-3299-AC8ACBE3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FA337-3F79-40EB-BDBF-E89AC45D51A3}" type="datetimeFigureOut">
              <a:rPr lang="en-GB" smtClean="0"/>
              <a:t>14/09/2025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6DC38-ED81-87DB-34C4-17EA461C9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34601-D3D4-1CAF-8413-644766FB7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9888A-5F53-4961-AFFE-149549E3D9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30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32E780BF-9C62-52EE-A232-3F2EAF0B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5" b="1491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DCD3A-60FE-8FBE-F406-A30F0FC7E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sz="3800" b="1">
                <a:solidFill>
                  <a:srgbClr val="FFFFFF"/>
                </a:solidFill>
              </a:rPr>
              <a:t>Implementation of Frequency Division Multiplexing using BASK Modulation and Demodulation in MATLAB: From Surname-to-Binary Conversion to Recovery and Verification</a:t>
            </a:r>
            <a:endParaRPr lang="en-GB" sz="3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063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F8BBF-65B4-6094-F928-9E026DD1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Objective</a:t>
            </a:r>
          </a:p>
        </p:txBody>
      </p:sp>
      <p:pic>
        <p:nvPicPr>
          <p:cNvPr id="5" name="Picture 4" descr="A cartoon robot with a keyboard&#10;&#10;AI-generated content may be incorrect.">
            <a:extLst>
              <a:ext uri="{FF2B5EF4-FFF2-40B4-BE49-F238E27FC236}">
                <a16:creationId xmlns:a16="http://schemas.microsoft.com/office/drawing/2014/main" id="{2A453BAC-E534-8869-7A69-907D92432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6" r="15928" b="-1"/>
          <a:stretch>
            <a:fillRect/>
          </a:stretch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6D48-821F-F003-0AE7-BBDAAD4D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Simulate digital communication process for transmitting two surnames: DAS and BISWAS.</a:t>
            </a:r>
          </a:p>
          <a:p>
            <a:r>
              <a:rPr lang="en-GB" sz="2000">
                <a:solidFill>
                  <a:schemeClr val="bg1"/>
                </a:solidFill>
              </a:rPr>
              <a:t>Convert each surname into binary vector (MSB-first).</a:t>
            </a:r>
          </a:p>
          <a:p>
            <a:r>
              <a:rPr lang="en-GB" sz="2000">
                <a:solidFill>
                  <a:schemeClr val="bg1"/>
                </a:solidFill>
              </a:rPr>
              <a:t>Represent signals in time domain using unipolar NRZ.</a:t>
            </a:r>
          </a:p>
          <a:p>
            <a:r>
              <a:rPr lang="en-GB" sz="2000">
                <a:solidFill>
                  <a:schemeClr val="bg1"/>
                </a:solidFill>
              </a:rPr>
              <a:t>Apply BASK modulation with different carriers (x1: 2 Hz, x2: 4 Hz).</a:t>
            </a:r>
          </a:p>
          <a:p>
            <a:r>
              <a:rPr lang="en-GB" sz="2000">
                <a:solidFill>
                  <a:schemeClr val="bg1"/>
                </a:solidFill>
              </a:rPr>
              <a:t>Combine using FDM and add Gaussian noise.</a:t>
            </a:r>
          </a:p>
          <a:p>
            <a:r>
              <a:rPr lang="en-GB" sz="2000">
                <a:solidFill>
                  <a:schemeClr val="bg1"/>
                </a:solidFill>
              </a:rPr>
              <a:t>Demultiplex, demodulate, and decode to verify recovered surnames.</a:t>
            </a:r>
          </a:p>
          <a:p>
            <a:endParaRPr lang="en-GB" sz="2000">
              <a:solidFill>
                <a:schemeClr val="bg1"/>
              </a:solidFill>
            </a:endParaRPr>
          </a:p>
        </p:txBody>
      </p:sp>
      <p:grpSp>
        <p:nvGrpSpPr>
          <p:cNvPr id="1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255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E2ACD-5622-E9CA-1F08-37F1EE85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/>
              <a:t>Theory</a:t>
            </a:r>
            <a:endParaRPr lang="en-GB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book cover with a planet earth&#10;&#10;AI-generated content may be incorrect.">
            <a:extLst>
              <a:ext uri="{FF2B5EF4-FFF2-40B4-BE49-F238E27FC236}">
                <a16:creationId xmlns:a16="http://schemas.microsoft.com/office/drawing/2014/main" id="{7543D36F-5152-7D6B-81E0-9D0AEC743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540013"/>
            <a:ext cx="4777381" cy="560822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AB9ACDC-45EC-9275-2D26-08C9D5B268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0563" y="1984443"/>
            <a:ext cx="6615579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NRZ Signaling: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Represents digital bits as voltage levels (1 → high, 0 → low).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BASK Modulation: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Binary Amplitude Shift Keying – amplitude of carrier represents bit.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Frequency Division Multiplexing (FDM):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Combine multiple signals with different carrier frequencies.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Demodulation: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Recover original bits by multiplying with carrier and low-pass filtering.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ASCII Conversion: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Binary → Characters to verify recovered surnames.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GB" sz="1500" dirty="0"/>
              <a:t>Include small diagram showing </a:t>
            </a:r>
            <a:r>
              <a:rPr lang="en-GB" sz="1500" b="1" dirty="0"/>
              <a:t>bit → NRZ → BASK → FDM → Demodulation → recovered bit → ASCII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14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CD751-C299-DE5A-4433-7FE75056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09" y="502400"/>
            <a:ext cx="3367171" cy="1818064"/>
          </a:xfrm>
        </p:spPr>
        <p:txBody>
          <a:bodyPr>
            <a:normAutofit/>
          </a:bodyPr>
          <a:lstStyle/>
          <a:p>
            <a:pPr algn="ctr"/>
            <a:r>
              <a:rPr lang="en-GB" sz="2800" b="1"/>
              <a:t>Task 1 – Generate Binary Vectors</a:t>
            </a:r>
            <a:br>
              <a:rPr lang="en-GB" sz="2800" b="1"/>
            </a:br>
            <a:endParaRPr lang="en-GB" sz="2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couple of robots with blue eyes and a white speech bubble&#10;&#10;AI-generated content may be incorrect.">
            <a:extLst>
              <a:ext uri="{FF2B5EF4-FFF2-40B4-BE49-F238E27FC236}">
                <a16:creationId xmlns:a16="http://schemas.microsoft.com/office/drawing/2014/main" id="{6CB591D9-5F98-8B4E-F9C7-CD13E4E56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2" r="-4" b="5851"/>
          <a:stretch>
            <a:fillRect/>
          </a:stretch>
        </p:blipFill>
        <p:spPr>
          <a:xfrm>
            <a:off x="-1" y="2826737"/>
            <a:ext cx="4565779" cy="40312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5CBC1-7714-BBBC-4E5A-CCA910A5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4080" y="3455208"/>
            <a:ext cx="7423911" cy="234470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600" b="1" dirty="0"/>
              <a:t>Points:</a:t>
            </a:r>
            <a:endParaRPr lang="en-GB" sz="1600" dirty="0"/>
          </a:p>
          <a:p>
            <a:r>
              <a:rPr lang="en-GB" sz="1600" dirty="0"/>
              <a:t>Input surnames: x1 = DAS, x2 = BISWAS.</a:t>
            </a:r>
          </a:p>
          <a:p>
            <a:r>
              <a:rPr lang="en-GB" sz="1600" dirty="0"/>
              <a:t>Converted to </a:t>
            </a:r>
            <a:r>
              <a:rPr lang="en-GB" sz="1600" b="1" dirty="0"/>
              <a:t>binary vectors using ASCII table</a:t>
            </a:r>
            <a:r>
              <a:rPr lang="en-GB" sz="1600" dirty="0"/>
              <a:t> (MSB-first).</a:t>
            </a:r>
          </a:p>
          <a:p>
            <a:r>
              <a:rPr lang="en-GB" sz="1600" dirty="0"/>
              <a:t>Example:</a:t>
            </a:r>
          </a:p>
          <a:p>
            <a:pPr lvl="1"/>
            <a:r>
              <a:rPr lang="en-GB" sz="1600" dirty="0"/>
              <a:t>DAS → 01000100 01000001 01010011</a:t>
            </a:r>
          </a:p>
          <a:p>
            <a:pPr lvl="1"/>
            <a:r>
              <a:rPr lang="en-GB" sz="1600" dirty="0"/>
              <a:t>BISWAS → 01000010 01001001 01010011 01010111 01000001 01010011</a:t>
            </a:r>
          </a:p>
          <a:p>
            <a:endParaRPr lang="en-GB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5823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814BA9-24A5-671A-7EDC-E32346F51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244" y="36588"/>
            <a:ext cx="7572756" cy="272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0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8EAC5F-3337-E3BB-93BA-472C7C18B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3" y="0"/>
            <a:ext cx="12191999" cy="6858000"/>
          </a:xfrm>
          <a:prstGeom prst="rect">
            <a:avLst/>
          </a:prstGeom>
        </p:spPr>
      </p:pic>
      <p:sp>
        <p:nvSpPr>
          <p:cNvPr id="19" name="Rectangle 6">
            <a:extLst>
              <a:ext uri="{FF2B5EF4-FFF2-40B4-BE49-F238E27FC236}">
                <a16:creationId xmlns:a16="http://schemas.microsoft.com/office/drawing/2014/main" id="{13C3BD4D-E4AA-9BA1-0C6C-50F5B383E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040" y="2389873"/>
            <a:ext cx="615696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Surnames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'DAS'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'BISWAS’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asc2bn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converts text → ASCII → 8-bit binary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binary streams for both </a:t>
            </a:r>
            <a:r>
              <a:rPr lang="en-US" altLang="en-US" sz="2000" dirty="0">
                <a:latin typeface="Arial" panose="020B0604020202020204" pitchFamily="34" charset="0"/>
              </a:rPr>
              <a:t>surnames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44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FC900-1641-C8EC-2AB9-DF121FA5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2600" b="1" dirty="0"/>
              <a:t>Task 2 – Represent in Time Domain (NRZ)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A5DE1C-E03A-BFA0-8E03-44659BDCA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64996"/>
            <a:ext cx="6903720" cy="3728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491155-F949-DE43-B4D8-242562D2F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" y="2941731"/>
            <a:ext cx="5262880" cy="334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97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47EE8-9175-4226-1806-182E8BB7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GB" sz="2400" b="1"/>
              <a:t>Task 3 – Apply BASK Modulation</a:t>
            </a:r>
            <a:br>
              <a:rPr lang="en-GB" sz="2400" b="1"/>
            </a:br>
            <a:endParaRPr lang="en-GB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0A036-365F-EC30-C5B5-18BC38D7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" y="2690622"/>
            <a:ext cx="4681727" cy="3810762"/>
          </a:xfrm>
        </p:spPr>
        <p:txBody>
          <a:bodyPr anchor="t">
            <a:normAutofit/>
          </a:bodyPr>
          <a:lstStyle/>
          <a:p>
            <a:r>
              <a:rPr lang="en-GB" sz="1700" dirty="0"/>
              <a:t>x1 modulated with </a:t>
            </a:r>
            <a:r>
              <a:rPr lang="en-GB" sz="1700" b="1" dirty="0"/>
              <a:t>2 Hz carrier</a:t>
            </a:r>
            <a:r>
              <a:rPr lang="en-GB" sz="1700" dirty="0"/>
              <a:t>, x2 with </a:t>
            </a:r>
            <a:r>
              <a:rPr lang="en-GB" sz="1700" b="1" dirty="0"/>
              <a:t>4 Hz carrier</a:t>
            </a:r>
            <a:r>
              <a:rPr lang="en-GB" sz="1700" dirty="0"/>
              <a:t>.</a:t>
            </a:r>
          </a:p>
          <a:p>
            <a:r>
              <a:rPr lang="en-GB" sz="1700" dirty="0"/>
              <a:t>High bit → carrier present (amplitude 5V), Low bit → no carrier. </a:t>
            </a:r>
            <a:r>
              <a:rPr lang="en-GB" sz="1600" dirty="0"/>
              <a:t>Successfully transmitted two surnames via BASK + FDM.</a:t>
            </a:r>
          </a:p>
          <a:p>
            <a:r>
              <a:rPr lang="en-GB" sz="1600" dirty="0"/>
              <a:t>MSB-first encoding and decoding ensured correct recovery.</a:t>
            </a:r>
          </a:p>
          <a:p>
            <a:r>
              <a:rPr lang="en-GB" sz="1600" dirty="0"/>
              <a:t>Noise (SNR = 15 dB) did not affect final output.</a:t>
            </a:r>
          </a:p>
          <a:p>
            <a:r>
              <a:rPr lang="en-GB" sz="1600" dirty="0"/>
              <a:t>Demonstrates fundamental concepts of digital communication.</a:t>
            </a:r>
          </a:p>
          <a:p>
            <a:endParaRPr lang="en-GB" sz="1700" dirty="0"/>
          </a:p>
          <a:p>
            <a:endParaRPr lang="en-GB" sz="17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548ACF-7613-A376-3028-057B610D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967" y="1632001"/>
            <a:ext cx="6921940" cy="37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08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EDC30-FC3A-A537-BAF8-0A9F0973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5" y="177051"/>
            <a:ext cx="7443216" cy="1526082"/>
          </a:xfrm>
        </p:spPr>
        <p:txBody>
          <a:bodyPr anchor="b">
            <a:normAutofit/>
          </a:bodyPr>
          <a:lstStyle/>
          <a:p>
            <a:r>
              <a:rPr lang="en-GB" sz="2600" b="1" dirty="0"/>
              <a:t>Task 4 – Frequency Division Multiplexing (FDM)</a:t>
            </a:r>
            <a:br>
              <a:rPr lang="en-GB" sz="2600" b="1" dirty="0"/>
            </a:br>
            <a:endParaRPr lang="en-GB" sz="26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2C0F-AFE7-A031-C683-BF783B73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06624"/>
            <a:ext cx="4754880" cy="3511296"/>
          </a:xfrm>
        </p:spPr>
        <p:txBody>
          <a:bodyPr anchor="t">
            <a:normAutofit fontScale="62500" lnSpcReduction="20000"/>
          </a:bodyPr>
          <a:lstStyle/>
          <a:p>
            <a:r>
              <a:rPr lang="en-GB" dirty="0"/>
              <a:t>  </a:t>
            </a:r>
            <a:r>
              <a:rPr lang="en-GB" b="1" dirty="0"/>
              <a:t>Input:</a:t>
            </a:r>
            <a:r>
              <a:rPr lang="en-GB" dirty="0"/>
              <a:t> Binary streams of 'DAS' and</a:t>
            </a:r>
          </a:p>
          <a:p>
            <a:r>
              <a:rPr lang="en-GB" dirty="0"/>
              <a:t> 'BISWAS'.</a:t>
            </a:r>
          </a:p>
          <a:p>
            <a:r>
              <a:rPr lang="en-GB" b="1" dirty="0"/>
              <a:t>BASK Modulation:</a:t>
            </a:r>
            <a:endParaRPr lang="en-GB" dirty="0"/>
          </a:p>
          <a:p>
            <a:pPr lvl="0"/>
            <a:r>
              <a:rPr lang="en-GB" dirty="0"/>
              <a:t>Carrier frequencies: 2 kHz (DAS), 4 kHz (BISWAS)</a:t>
            </a:r>
          </a:p>
          <a:p>
            <a:pPr lvl="0"/>
            <a:r>
              <a:rPr lang="en-GB" dirty="0"/>
              <a:t>Amplitude: 1 V for 1, 0 V for 0</a:t>
            </a:r>
          </a:p>
          <a:p>
            <a:r>
              <a:rPr lang="en-GB" dirty="0"/>
              <a:t> </a:t>
            </a:r>
            <a:r>
              <a:rPr lang="en-GB" b="1" dirty="0"/>
              <a:t>FDM Composite:</a:t>
            </a:r>
            <a:r>
              <a:rPr lang="en-GB" dirty="0"/>
              <a:t> Signals are zero-padded, summed to form a </a:t>
            </a:r>
            <a:r>
              <a:rPr lang="en-GB" b="1" dirty="0"/>
              <a:t>composite signal</a:t>
            </a:r>
            <a:r>
              <a:rPr lang="en-GB" dirty="0"/>
              <a:t>.</a:t>
            </a:r>
          </a:p>
          <a:p>
            <a:r>
              <a:rPr lang="en-GB" dirty="0"/>
              <a:t> </a:t>
            </a:r>
            <a:r>
              <a:rPr lang="en-GB" b="1" dirty="0"/>
              <a:t>Noise Addition:</a:t>
            </a:r>
            <a:r>
              <a:rPr lang="en-GB" dirty="0"/>
              <a:t> AWGN with 15 dB SNR added to the composite signal.</a:t>
            </a:r>
          </a:p>
          <a:p>
            <a:r>
              <a:rPr lang="en-GB" dirty="0"/>
              <a:t> </a:t>
            </a:r>
            <a:r>
              <a:rPr lang="en-GB" b="1" dirty="0"/>
              <a:t>Output:</a:t>
            </a:r>
            <a:r>
              <a:rPr lang="en-GB" dirty="0"/>
              <a:t> Plot of </a:t>
            </a:r>
            <a:r>
              <a:rPr lang="en-GB" b="1" dirty="0"/>
              <a:t>noisy composite BASK signal</a:t>
            </a:r>
            <a:endParaRPr lang="en-GB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0C35F-413B-CAC6-102E-A4396EDC1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64996"/>
            <a:ext cx="6903720" cy="37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60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C92A1-3065-9BC5-5130-79640FCC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GB" sz="2400" b="1"/>
              <a:t> Task 5 – Demultiplexing and Demodulation</a:t>
            </a:r>
            <a:br>
              <a:rPr lang="en-GB" sz="2400" b="1"/>
            </a:br>
            <a:endParaRPr lang="en-GB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2B98-CE0D-4B1F-5CC5-98E799122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" y="2674936"/>
            <a:ext cx="5047488" cy="3207258"/>
          </a:xfrm>
        </p:spPr>
        <p:txBody>
          <a:bodyPr anchor="t">
            <a:normAutofit fontScale="77500" lnSpcReduction="20000"/>
          </a:bodyPr>
          <a:lstStyle/>
          <a:p>
            <a:r>
              <a:rPr lang="en-GB" dirty="0"/>
              <a:t> Multiply noisy signal with carrier</a:t>
            </a:r>
          </a:p>
          <a:p>
            <a:endParaRPr lang="en-GB" dirty="0"/>
          </a:p>
          <a:p>
            <a:r>
              <a:rPr lang="en-GB" dirty="0"/>
              <a:t> Detect bit energy and compare with threshold.</a:t>
            </a:r>
          </a:p>
          <a:p>
            <a:endParaRPr lang="en-GB" dirty="0"/>
          </a:p>
          <a:p>
            <a:r>
              <a:rPr lang="en-GB" dirty="0"/>
              <a:t> Rebuild NRZ signal from recovered bits.</a:t>
            </a:r>
          </a:p>
          <a:p>
            <a:endParaRPr lang="en-GB" dirty="0"/>
          </a:p>
          <a:p>
            <a:r>
              <a:rPr lang="en-GB" dirty="0"/>
              <a:t> Plot recovered NRZ for DAS (blue) and BISWAS (red).</a:t>
            </a:r>
          </a:p>
          <a:p>
            <a:endParaRPr lang="en-GB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1A2C6-0012-5D3B-32EA-70AD29ECB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610350"/>
            <a:ext cx="6922008" cy="373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6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336B6-A788-F96F-49BD-FA0DED07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2600" b="1"/>
              <a:t>Task 6 – ASCII Decoding and Verification</a:t>
            </a:r>
            <a:br>
              <a:rPr lang="en-GB" sz="2600" b="1"/>
            </a:br>
            <a:endParaRPr lang="en-GB" sz="26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4DDBD-9079-ACF6-F88F-9ACE0762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2362884"/>
            <a:ext cx="4325112" cy="3891052"/>
          </a:xfrm>
        </p:spPr>
        <p:txBody>
          <a:bodyPr anchor="t">
            <a:normAutofit fontScale="85000" lnSpcReduction="1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 Convert surnames to binary (8-bit per character).</a:t>
            </a:r>
          </a:p>
          <a:p>
            <a:r>
              <a:rPr lang="en-GB" dirty="0"/>
              <a:t> Reshape binary into 8-bit groups.</a:t>
            </a:r>
          </a:p>
          <a:p>
            <a:r>
              <a:rPr lang="en-GB" dirty="0"/>
              <a:t>Convert binary back to decimal → ASCII characters.</a:t>
            </a:r>
          </a:p>
          <a:p>
            <a:r>
              <a:rPr lang="en-GB" dirty="0"/>
              <a:t> Display original and recovered surnames.</a:t>
            </a:r>
          </a:p>
          <a:p>
            <a:r>
              <a:rPr lang="en-GB" dirty="0"/>
              <a:t> Check if recovery is correct.</a:t>
            </a:r>
          </a:p>
          <a:p>
            <a:endParaRPr lang="en-GB" sz="22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455AD9-6FBD-0912-C182-95EEC064E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76" y="110071"/>
            <a:ext cx="6903720" cy="36934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897366-78A3-7D4C-80CA-5357230BF8D1}"/>
              </a:ext>
            </a:extLst>
          </p:cNvPr>
          <p:cNvSpPr txBox="1"/>
          <p:nvPr/>
        </p:nvSpPr>
        <p:spPr>
          <a:xfrm>
            <a:off x="5413248" y="3916385"/>
            <a:ext cx="659434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Output</a:t>
            </a:r>
          </a:p>
          <a:p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Original Surnames:</a:t>
            </a:r>
            <a:b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DAS </a:t>
            </a:r>
            <a:b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BISWAS </a:t>
            </a:r>
            <a:b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Recovered Surnames:</a:t>
            </a:r>
            <a:b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DAS </a:t>
            </a:r>
            <a:b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BISWAS </a:t>
            </a:r>
            <a:b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sz="2000" b="1" dirty="0">
                <a:solidFill>
                  <a:schemeClr val="accent6">
                    <a:lumMod val="75000"/>
                  </a:schemeClr>
                </a:solidFill>
              </a:rPr>
              <a:t>Success: Surnames recovered correctly!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159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A4ED1-BF40-1D5C-E0AE-ADA2B27A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b="1" dirty="0"/>
              <a:t>Results Analysis</a:t>
            </a:r>
            <a:br>
              <a:rPr lang="en-GB" sz="5000" b="1" dirty="0"/>
            </a:br>
            <a:endParaRPr lang="en-GB" sz="50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D60CA-1423-7BE5-57D3-E9590CAE8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42616"/>
            <a:ext cx="6267704" cy="3829304"/>
          </a:xfrm>
        </p:spPr>
        <p:txBody>
          <a:bodyPr anchor="t">
            <a:normAutofit/>
          </a:bodyPr>
          <a:lstStyle/>
          <a:p>
            <a:r>
              <a:rPr lang="en-GB" sz="1900" dirty="0"/>
              <a:t>NRZ signals correctly represented digital bits.</a:t>
            </a:r>
          </a:p>
          <a:p>
            <a:r>
              <a:rPr lang="en-GB" sz="1900" dirty="0"/>
              <a:t>BASK modulation successful with proper carrier frequencies.</a:t>
            </a:r>
          </a:p>
          <a:p>
            <a:r>
              <a:rPr lang="en-GB" sz="1900" dirty="0"/>
              <a:t>FDM combined signals effectively; noise caused small fluctuations but did not affect recovery.</a:t>
            </a:r>
          </a:p>
          <a:p>
            <a:r>
              <a:rPr lang="en-GB" sz="1900" dirty="0"/>
              <a:t>Demodulation recovered exact binary sequences.</a:t>
            </a:r>
          </a:p>
          <a:p>
            <a:r>
              <a:rPr lang="en-GB" sz="1900" dirty="0"/>
              <a:t>ASCII decoding verified successful transmission of DAS and BISWAS.</a:t>
            </a:r>
          </a:p>
          <a:p>
            <a:endParaRPr lang="en-GB" sz="1900" dirty="0"/>
          </a:p>
        </p:txBody>
      </p:sp>
      <p:pic>
        <p:nvPicPr>
          <p:cNvPr id="5" name="Picture 4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E5306B37-8298-769A-86E7-4A6C01103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520" y="1848104"/>
            <a:ext cx="4744720" cy="29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29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torn paper with a black text&#10;&#10;AI-generated content may be incorrect.">
            <a:extLst>
              <a:ext uri="{FF2B5EF4-FFF2-40B4-BE49-F238E27FC236}">
                <a16:creationId xmlns:a16="http://schemas.microsoft.com/office/drawing/2014/main" id="{DF75B3A8-1E98-EC29-FF90-6A5B6F4CB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6" b="2546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7621B-E53C-5681-E862-A4E68C17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3752850"/>
            <a:ext cx="10246355" cy="2452687"/>
          </a:xfrm>
        </p:spPr>
        <p:txBody>
          <a:bodyPr anchor="ctr">
            <a:normAutofit/>
          </a:bodyPr>
          <a:lstStyle/>
          <a:p>
            <a:r>
              <a:rPr lang="en-GB" sz="1800" dirty="0"/>
              <a:t>Successfully transmitted two surnames via BASK + FDM.</a:t>
            </a:r>
          </a:p>
          <a:p>
            <a:r>
              <a:rPr lang="en-GB" sz="1800" dirty="0"/>
              <a:t>MSB-first encoding and decoding ensured correct recovery.</a:t>
            </a:r>
          </a:p>
          <a:p>
            <a:r>
              <a:rPr lang="en-GB" sz="1800" dirty="0"/>
              <a:t>Noise (SNR = 15 dB) did not affect final output.</a:t>
            </a:r>
          </a:p>
          <a:p>
            <a:r>
              <a:rPr lang="en-GB" sz="1800" dirty="0"/>
              <a:t>Demonstrates fundamental concepts of digital communication.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39823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with thumbs down and thumbs down&#10;&#10;AI-generated content may be incorrect.">
            <a:extLst>
              <a:ext uri="{FF2B5EF4-FFF2-40B4-BE49-F238E27FC236}">
                <a16:creationId xmlns:a16="http://schemas.microsoft.com/office/drawing/2014/main" id="{0D61834D-3822-39AF-FF2F-D2392A26F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8" r="1366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4B886-150E-79A5-08A9-D7FCC377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3400" b="1"/>
              <a:t>Advantages &amp; Limitations</a:t>
            </a:r>
            <a:br>
              <a:rPr lang="en-GB" sz="3400" b="1"/>
            </a:br>
            <a:br>
              <a:rPr lang="en-GB" sz="3400" b="1"/>
            </a:br>
            <a:endParaRPr lang="en-GB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7AC07-A188-E5DF-D169-B23EDF4AD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1452880"/>
            <a:ext cx="5247340" cy="47871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400" b="1" dirty="0"/>
              <a:t>Advantages</a:t>
            </a:r>
          </a:p>
          <a:p>
            <a:r>
              <a:rPr lang="en-GB" sz="1400" b="1" dirty="0"/>
              <a:t>Simple and clear demonstration of digital communication workflow.</a:t>
            </a:r>
          </a:p>
          <a:p>
            <a:r>
              <a:rPr lang="en-GB" sz="1400" b="1" dirty="0"/>
              <a:t>Works with noisy channels (robust to moderate noise).</a:t>
            </a:r>
          </a:p>
          <a:p>
            <a:r>
              <a:rPr lang="en-GB" sz="1400" b="1" dirty="0"/>
              <a:t>Illustrates NRZ, BASK, FDM, and ASCII encoding/decoding.</a:t>
            </a:r>
          </a:p>
          <a:p>
            <a:pPr marL="0" indent="0">
              <a:buNone/>
            </a:pPr>
            <a:br>
              <a:rPr lang="en-GB" sz="1400" dirty="0"/>
            </a:br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Limitations</a:t>
            </a:r>
          </a:p>
          <a:p>
            <a:r>
              <a:rPr lang="en-GB" sz="1400" b="1" dirty="0"/>
              <a:t>Low carrier frequencies (2 Hz &amp; 4 Hz) → not practical for real applications.</a:t>
            </a:r>
          </a:p>
          <a:p>
            <a:r>
              <a:rPr lang="en-GB" sz="1400" b="1" dirty="0"/>
              <a:t>High sampling rate required for accurate NRZ/BASK plots.</a:t>
            </a:r>
          </a:p>
          <a:p>
            <a:r>
              <a:rPr lang="en-GB" sz="1400" b="1" dirty="0"/>
              <a:t>Only two signals simulated; adding more increases complexity.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14364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holding up signs&#10;&#10;AI-generated content may be incorrect.">
            <a:extLst>
              <a:ext uri="{FF2B5EF4-FFF2-40B4-BE49-F238E27FC236}">
                <a16:creationId xmlns:a16="http://schemas.microsoft.com/office/drawing/2014/main" id="{46310E71-5E04-7516-6189-8F29467A3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66309"/>
            <a:ext cx="10905066" cy="5125381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1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694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Arial Unicode MS</vt:lpstr>
      <vt:lpstr>Calibri</vt:lpstr>
      <vt:lpstr>Office Theme</vt:lpstr>
      <vt:lpstr>Implementation of Frequency Division Multiplexing using BASK Modulation and Demodulation in MATLAB: From Surname-to-Binary Conversion to Recovery and Verification</vt:lpstr>
      <vt:lpstr>Objective</vt:lpstr>
      <vt:lpstr>Theory</vt:lpstr>
      <vt:lpstr>Task 1 – Generate Binary Vectors </vt:lpstr>
      <vt:lpstr>PowerPoint Presentation</vt:lpstr>
      <vt:lpstr>Task 2 – Represent in Time Domain (NRZ) </vt:lpstr>
      <vt:lpstr>Task 3 – Apply BASK Modulation </vt:lpstr>
      <vt:lpstr>Task 4 – Frequency Division Multiplexing (FDM) </vt:lpstr>
      <vt:lpstr> Task 5 – Demultiplexing and Demodulation </vt:lpstr>
      <vt:lpstr>Task 6 – ASCII Decoding and Verification </vt:lpstr>
      <vt:lpstr>Results Analysis </vt:lpstr>
      <vt:lpstr>PowerPoint Presentation</vt:lpstr>
      <vt:lpstr>Advantages &amp; Limitations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MUMTAHINA MALIHA</dc:creator>
  <cp:lastModifiedBy>MUMTAHINA MALIHA</cp:lastModifiedBy>
  <cp:revision>1</cp:revision>
  <dcterms:created xsi:type="dcterms:W3CDTF">2025-09-14T13:57:55Z</dcterms:created>
  <dcterms:modified xsi:type="dcterms:W3CDTF">2025-09-14T16:41:36Z</dcterms:modified>
</cp:coreProperties>
</file>