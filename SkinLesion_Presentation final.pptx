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12930188"/>
  <p:notesSz cx="1293018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50" d="100"/>
          <a:sy n="150" d="100"/>
        </p:scale>
        <p:origin x="-485" y="-65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800" b="0" i="0" u="none" strike="noStrike">
                <a:solidFill>
                  <a:srgbClr val="1A1A2E"/>
                </a:solidFill>
                <a:latin typeface="Arial"/>
              </a:defRPr>
            </a:pPr>
            <a:r>
              <a:rPr lang="en-US" sz="800" b="0" i="0" u="none" strike="noStrike">
                <a:solidFill>
                  <a:srgbClr val="1A1A2E"/>
                </a:solidFill>
                <a:latin typeface="Arial"/>
              </a:rPr>
              <a:t>Class Distribution (ISIC 2019)</a:t>
            </a:r>
          </a:p>
        </c:rich>
      </c:tx>
      <c:overlay val="0"/>
    </c:title>
    <c:autoTitleDeleted val="0"/>
    <c:plotArea>
      <c:layout/>
      <c:barChart>
        <c:barDir val="col"/>
        <c:grouping val="clustered"/>
        <c:varyColors val="0"/>
        <c:ser>
          <c:idx val="0"/>
          <c:order val="0"/>
          <c:tx>
            <c:strRef>
              <c:f>Sheet1!$B$1</c:f>
              <c:strCache>
                <c:ptCount val="1"/>
                <c:pt idx="0">
                  <c:v>Images</c:v>
                </c:pt>
              </c:strCache>
            </c:strRef>
          </c:tx>
          <c:spPr>
            <a:solidFill>
              <a:srgbClr val="2E5FA3"/>
            </a:solidFill>
            <a:effectLst/>
          </c:spPr>
          <c:invertIfNegative val="0"/>
          <c:cat>
            <c:strRef>
              <c:f>Sheet1!$A$2:$A$9</c:f>
              <c:strCache>
                <c:ptCount val="8"/>
                <c:pt idx="0">
                  <c:v>NV</c:v>
                </c:pt>
                <c:pt idx="1">
                  <c:v>MEL</c:v>
                </c:pt>
                <c:pt idx="2">
                  <c:v>BKL</c:v>
                </c:pt>
                <c:pt idx="3">
                  <c:v>BCC</c:v>
                </c:pt>
                <c:pt idx="4">
                  <c:v>AK</c:v>
                </c:pt>
                <c:pt idx="5">
                  <c:v>SCC</c:v>
                </c:pt>
                <c:pt idx="6">
                  <c:v>DF</c:v>
                </c:pt>
                <c:pt idx="7">
                  <c:v>VASC</c:v>
                </c:pt>
              </c:strCache>
            </c:strRef>
          </c:cat>
          <c:val>
            <c:numRef>
              <c:f>Sheet1!$B$2:$B$9</c:f>
              <c:numCache>
                <c:formatCode>General</c:formatCode>
                <c:ptCount val="8"/>
                <c:pt idx="0">
                  <c:v>12875</c:v>
                </c:pt>
                <c:pt idx="1">
                  <c:v>4522</c:v>
                </c:pt>
                <c:pt idx="2">
                  <c:v>2624</c:v>
                </c:pt>
                <c:pt idx="3">
                  <c:v>3325</c:v>
                </c:pt>
                <c:pt idx="4">
                  <c:v>867</c:v>
                </c:pt>
                <c:pt idx="5">
                  <c:v>628</c:v>
                </c:pt>
                <c:pt idx="6">
                  <c:v>239</c:v>
                </c:pt>
                <c:pt idx="7">
                  <c:v>263</c:v>
                </c:pt>
              </c:numCache>
            </c:numRef>
          </c:val>
          <c:extLst>
            <c:ext xmlns:c16="http://schemas.microsoft.com/office/drawing/2014/chart" uri="{C3380CC4-5D6E-409C-BE32-E72D297353CC}">
              <c16:uniqueId val="{00000000-11FB-48F1-BAF9-39C4021FC9A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800" b="0" i="0" u="none" strike="noStrike">
                <a:solidFill>
                  <a:srgbClr val="000000"/>
                </a:solidFill>
                <a:latin typeface="Arial"/>
              </a:defRPr>
            </a:pPr>
            <a:r>
              <a:rPr lang="en-US" sz="800" b="0" i="0" u="none" strike="noStrike">
                <a:solidFill>
                  <a:srgbClr val="000000"/>
                </a:solidFill>
                <a:latin typeface="Arial"/>
              </a:rPr>
              <a:t>Classification Performance Comparison</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2E5FA3"/>
            </a:solidFill>
            <a:effectLst/>
          </c:spPr>
          <c:invertIfNegative val="0"/>
          <c:dLbls>
            <c:numFmt formatCode="#,##0" sourceLinked="0"/>
            <c:spPr>
              <a:noFill/>
              <a:ln>
                <a:noFill/>
              </a:ln>
              <a:effectLst/>
            </c:spPr>
            <c:txPr>
              <a:bodyPr/>
              <a:lstStyle/>
              <a:p>
                <a:pPr>
                  <a:defRPr sz="6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VGG16</c:v>
                </c:pt>
                <c:pt idx="1">
                  <c:v>ResNet50</c:v>
                </c:pt>
              </c:strCache>
            </c:strRef>
          </c:cat>
          <c:val>
            <c:numRef>
              <c:f>Sheet1!$B$2:$B$3</c:f>
              <c:numCache>
                <c:formatCode>General</c:formatCode>
                <c:ptCount val="2"/>
                <c:pt idx="0">
                  <c:v>0.65569999999999995</c:v>
                </c:pt>
                <c:pt idx="1">
                  <c:v>0.68820000000000003</c:v>
                </c:pt>
              </c:numCache>
            </c:numRef>
          </c:val>
          <c:extLst>
            <c:ext xmlns:c16="http://schemas.microsoft.com/office/drawing/2014/chart" uri="{C3380CC4-5D6E-409C-BE32-E72D297353CC}">
              <c16:uniqueId val="{00000000-8ECF-4360-B290-9C1161C7D99F}"/>
            </c:ext>
          </c:extLst>
        </c:ser>
        <c:ser>
          <c:idx val="1"/>
          <c:order val="1"/>
          <c:tx>
            <c:strRef>
              <c:f>Sheet1!$C$1</c:f>
              <c:strCache>
                <c:ptCount val="1"/>
                <c:pt idx="0">
                  <c:v>Macro F1</c:v>
                </c:pt>
              </c:strCache>
            </c:strRef>
          </c:tx>
          <c:spPr>
            <a:solidFill>
              <a:srgbClr val="E8512A"/>
            </a:solidFill>
            <a:effectLst/>
          </c:spPr>
          <c:invertIfNegative val="0"/>
          <c:dLbls>
            <c:numFmt formatCode="#,##0" sourceLinked="0"/>
            <c:spPr>
              <a:noFill/>
              <a:ln>
                <a:noFill/>
              </a:ln>
              <a:effectLst/>
            </c:spPr>
            <c:txPr>
              <a:bodyPr/>
              <a:lstStyle/>
              <a:p>
                <a:pPr>
                  <a:defRPr sz="6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VGG16</c:v>
                </c:pt>
                <c:pt idx="1">
                  <c:v>ResNet50</c:v>
                </c:pt>
              </c:strCache>
            </c:strRef>
          </c:cat>
          <c:val>
            <c:numRef>
              <c:f>Sheet1!$C$2:$C$3</c:f>
              <c:numCache>
                <c:formatCode>General</c:formatCode>
                <c:ptCount val="2"/>
                <c:pt idx="0">
                  <c:v>0.49769999999999998</c:v>
                </c:pt>
                <c:pt idx="1">
                  <c:v>0.5423</c:v>
                </c:pt>
              </c:numCache>
            </c:numRef>
          </c:val>
          <c:extLst>
            <c:ext xmlns:c16="http://schemas.microsoft.com/office/drawing/2014/chart" uri="{C3380CC4-5D6E-409C-BE32-E72D297353CC}">
              <c16:uniqueId val="{00000001-8ECF-4360-B290-9C1161C7D99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800" b="0" i="0" u="none" strike="noStrike">
                <a:solidFill>
                  <a:srgbClr val="000000"/>
                </a:solidFill>
                <a:latin typeface="Arial"/>
              </a:defRPr>
            </a:pPr>
            <a:r>
              <a:rPr lang="en-US" sz="800" b="0" i="0" u="none" strike="noStrike">
                <a:solidFill>
                  <a:srgbClr val="000000"/>
                </a:solidFill>
                <a:latin typeface="Arial"/>
              </a:rPr>
              <a:t>Regression Error Comparison (Lower = Better)</a:t>
            </a:r>
          </a:p>
        </c:rich>
      </c:tx>
      <c:overlay val="0"/>
    </c:title>
    <c:autoTitleDeleted val="0"/>
    <c:plotArea>
      <c:layout/>
      <c:barChart>
        <c:barDir val="col"/>
        <c:grouping val="clustered"/>
        <c:varyColors val="0"/>
        <c:ser>
          <c:idx val="0"/>
          <c:order val="0"/>
          <c:tx>
            <c:strRef>
              <c:f>Sheet1!$B$1</c:f>
              <c:strCache>
                <c:ptCount val="1"/>
                <c:pt idx="0">
                  <c:v>MAE (years)</c:v>
                </c:pt>
              </c:strCache>
            </c:strRef>
          </c:tx>
          <c:spPr>
            <a:solidFill>
              <a:srgbClr val="2E5FA3"/>
            </a:solidFill>
            <a:effectLst/>
          </c:spPr>
          <c:invertIfNegative val="0"/>
          <c:dLbls>
            <c:numFmt formatCode="#,##0" sourceLinked="0"/>
            <c:spPr>
              <a:noFill/>
              <a:ln>
                <a:noFill/>
              </a:ln>
              <a:effectLst/>
            </c:spPr>
            <c:txPr>
              <a:bodyPr/>
              <a:lstStyle/>
              <a:p>
                <a:pPr>
                  <a:defRPr sz="6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VGG16</c:v>
                </c:pt>
                <c:pt idx="1">
                  <c:v>ResNet50</c:v>
                </c:pt>
              </c:strCache>
            </c:strRef>
          </c:cat>
          <c:val>
            <c:numRef>
              <c:f>Sheet1!$B$2:$B$3</c:f>
              <c:numCache>
                <c:formatCode>General</c:formatCode>
                <c:ptCount val="2"/>
                <c:pt idx="0">
                  <c:v>10.914</c:v>
                </c:pt>
                <c:pt idx="1">
                  <c:v>10.337</c:v>
                </c:pt>
              </c:numCache>
            </c:numRef>
          </c:val>
          <c:extLst>
            <c:ext xmlns:c16="http://schemas.microsoft.com/office/drawing/2014/chart" uri="{C3380CC4-5D6E-409C-BE32-E72D297353CC}">
              <c16:uniqueId val="{00000000-5A19-41B4-A622-CE6F432C99D3}"/>
            </c:ext>
          </c:extLst>
        </c:ser>
        <c:ser>
          <c:idx val="1"/>
          <c:order val="1"/>
          <c:tx>
            <c:strRef>
              <c:f>Sheet1!$C$1</c:f>
              <c:strCache>
                <c:ptCount val="1"/>
                <c:pt idx="0">
                  <c:v>RMSE (years)</c:v>
                </c:pt>
              </c:strCache>
            </c:strRef>
          </c:tx>
          <c:spPr>
            <a:solidFill>
              <a:srgbClr val="E8512A"/>
            </a:solidFill>
            <a:effectLst/>
          </c:spPr>
          <c:invertIfNegative val="0"/>
          <c:dLbls>
            <c:numFmt formatCode="#,##0" sourceLinked="0"/>
            <c:spPr>
              <a:noFill/>
              <a:ln>
                <a:noFill/>
              </a:ln>
              <a:effectLst/>
            </c:spPr>
            <c:txPr>
              <a:bodyPr/>
              <a:lstStyle/>
              <a:p>
                <a:pPr>
                  <a:defRPr sz="6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VGG16</c:v>
                </c:pt>
                <c:pt idx="1">
                  <c:v>ResNet50</c:v>
                </c:pt>
              </c:strCache>
            </c:strRef>
          </c:cat>
          <c:val>
            <c:numRef>
              <c:f>Sheet1!$C$2:$C$3</c:f>
              <c:numCache>
                <c:formatCode>General</c:formatCode>
                <c:ptCount val="2"/>
                <c:pt idx="0">
                  <c:v>14.047000000000001</c:v>
                </c:pt>
                <c:pt idx="1">
                  <c:v>13.34</c:v>
                </c:pt>
              </c:numCache>
            </c:numRef>
          </c:val>
          <c:extLst>
            <c:ext xmlns:c16="http://schemas.microsoft.com/office/drawing/2014/chart" uri="{C3380CC4-5D6E-409C-BE32-E72D297353CC}">
              <c16:uniqueId val="{00000001-5A19-41B4-A622-CE6F432C99D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max val="16"/>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Parameters (Millions)</c:v>
                </c:pt>
              </c:strCache>
            </c:strRef>
          </c:tx>
          <c:spPr>
            <a:solidFill>
              <a:srgbClr val="2E5FA3"/>
            </a:solidFill>
            <a:effectLst/>
          </c:spPr>
          <c:invertIfNegative val="0"/>
          <c:dLbls>
            <c:numFmt formatCode="#,##0" sourceLinked="0"/>
            <c:spPr>
              <a:noFill/>
              <a:ln>
                <a:noFill/>
              </a:ln>
              <a:effectLst/>
            </c:spPr>
            <c:txPr>
              <a:bodyPr/>
              <a:lstStyle/>
              <a:p>
                <a:pPr>
                  <a:defRPr sz="7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VGG16</c:v>
                </c:pt>
                <c:pt idx="1">
                  <c:v>ResNet50</c:v>
                </c:pt>
              </c:strCache>
            </c:strRef>
          </c:cat>
          <c:val>
            <c:numRef>
              <c:f>Sheet1!$B$2:$B$3</c:f>
              <c:numCache>
                <c:formatCode>General</c:formatCode>
                <c:ptCount val="2"/>
                <c:pt idx="0">
                  <c:v>40.700000000000003</c:v>
                </c:pt>
                <c:pt idx="1">
                  <c:v>24.6</c:v>
                </c:pt>
              </c:numCache>
            </c:numRef>
          </c:val>
          <c:extLst>
            <c:ext xmlns:c16="http://schemas.microsoft.com/office/drawing/2014/chart" uri="{C3380CC4-5D6E-409C-BE32-E72D297353CC}">
              <c16:uniqueId val="{00000000-83FD-4754-99AF-481E65B34F1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3097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chart" Target="../charts/chart1.xm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4.xml"/><Relationship Id="rId11" Type="http://schemas.openxmlformats.org/officeDocument/2006/relationships/image" Target="../media/image5.png"/><Relationship Id="rId5" Type="http://schemas.openxmlformats.org/officeDocument/2006/relationships/chart" Target="../charts/chart3.xml"/><Relationship Id="rId10" Type="http://schemas.openxmlformats.org/officeDocument/2006/relationships/image" Target="../media/image4.png"/><Relationship Id="rId4" Type="http://schemas.openxmlformats.org/officeDocument/2006/relationships/chart" Target="../charts/chart2.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3" y="-6858"/>
            <a:ext cx="9144000" cy="1508760"/>
          </a:xfrm>
          <a:prstGeom prst="rect">
            <a:avLst/>
          </a:prstGeom>
          <a:solidFill>
            <a:srgbClr val="1B3A6B"/>
          </a:solidFill>
          <a:ln w="12700">
            <a:solidFill>
              <a:srgbClr val="1B3A6B"/>
            </a:solidFill>
            <a:prstDash val="solid"/>
          </a:ln>
        </p:spPr>
        <p:txBody>
          <a:bodyPr/>
          <a:lstStyle/>
          <a:p>
            <a:endParaRPr lang="en-US" dirty="0"/>
          </a:p>
        </p:txBody>
      </p:sp>
      <p:sp>
        <p:nvSpPr>
          <p:cNvPr id="4" name="Text 2"/>
          <p:cNvSpPr/>
          <p:nvPr/>
        </p:nvSpPr>
        <p:spPr>
          <a:xfrm>
            <a:off x="8183880" y="246888"/>
            <a:ext cx="777240" cy="411480"/>
          </a:xfrm>
          <a:prstGeom prst="rect">
            <a:avLst/>
          </a:prstGeom>
          <a:noFill/>
          <a:ln/>
        </p:spPr>
        <p:txBody>
          <a:bodyPr wrap="square" rtlCol="0" anchor="ctr"/>
          <a:lstStyle/>
          <a:p>
            <a:pPr marL="0" indent="0" algn="ctr">
              <a:buNone/>
            </a:pPr>
            <a:r>
              <a:rPr lang="en-US" sz="700" b="1" dirty="0">
                <a:solidFill>
                  <a:srgbClr val="1B3A6B"/>
                </a:solidFill>
              </a:rPr>
              <a:t>AIU</a:t>
            </a:r>
            <a:endParaRPr lang="en-US" sz="700" dirty="0"/>
          </a:p>
        </p:txBody>
      </p:sp>
      <p:sp>
        <p:nvSpPr>
          <p:cNvPr id="5" name="Text 3"/>
          <p:cNvSpPr/>
          <p:nvPr/>
        </p:nvSpPr>
        <p:spPr>
          <a:xfrm>
            <a:off x="228600" y="73152"/>
            <a:ext cx="7863840" cy="594360"/>
          </a:xfrm>
          <a:prstGeom prst="rect">
            <a:avLst/>
          </a:prstGeom>
          <a:noFill/>
          <a:ln/>
        </p:spPr>
        <p:txBody>
          <a:bodyPr wrap="square"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Evaluating VGG16 and ResNet50 for Simultaneous</a:t>
            </a:r>
            <a:endParaRPr lang="en-US" sz="1600" dirty="0"/>
          </a:p>
          <a:p>
            <a:pPr marL="0" indent="0" algn="l">
              <a:buNone/>
            </a:pPr>
            <a:r>
              <a:rPr lang="en-US" sz="1600" b="1" dirty="0">
                <a:solidFill>
                  <a:srgbClr val="FFFFFF"/>
                </a:solidFill>
                <a:latin typeface="Calibri" pitchFamily="34" charset="0"/>
                <a:ea typeface="Calibri" pitchFamily="34" charset="-122"/>
                <a:cs typeface="Calibri" pitchFamily="34" charset="-120"/>
              </a:rPr>
              <a:t>Skin Lesion Diagnosis and Age Estimation</a:t>
            </a:r>
            <a:endParaRPr lang="en-US" sz="1600" dirty="0"/>
          </a:p>
        </p:txBody>
      </p:sp>
      <p:sp>
        <p:nvSpPr>
          <p:cNvPr id="6" name="Text 4"/>
          <p:cNvSpPr/>
          <p:nvPr/>
        </p:nvSpPr>
        <p:spPr>
          <a:xfrm>
            <a:off x="228600" y="658368"/>
            <a:ext cx="7315200" cy="201168"/>
          </a:xfrm>
          <a:prstGeom prst="rect">
            <a:avLst/>
          </a:prstGeom>
          <a:noFill/>
          <a:ln/>
        </p:spPr>
        <p:txBody>
          <a:bodyPr wrap="square" rtlCol="0" anchor="ctr"/>
          <a:lstStyle/>
          <a:p>
            <a:pPr marL="0" indent="0" algn="l">
              <a:buNone/>
            </a:pPr>
            <a:endParaRPr lang="en-US" sz="800" dirty="0"/>
          </a:p>
        </p:txBody>
      </p:sp>
      <p:sp>
        <p:nvSpPr>
          <p:cNvPr id="7" name="Text 5"/>
          <p:cNvSpPr/>
          <p:nvPr/>
        </p:nvSpPr>
        <p:spPr>
          <a:xfrm>
            <a:off x="210880" y="669798"/>
            <a:ext cx="7863840" cy="201168"/>
          </a:xfrm>
          <a:prstGeom prst="rect">
            <a:avLst/>
          </a:prstGeom>
          <a:noFill/>
          <a:ln/>
        </p:spPr>
        <p:txBody>
          <a:bodyPr wrap="square" rtlCol="0" anchor="ctr"/>
          <a:lstStyle/>
          <a:p>
            <a:pPr marL="0" indent="0" algn="l">
              <a:buNone/>
            </a:pPr>
            <a:r>
              <a:rPr lang="en-US" sz="850" dirty="0">
                <a:solidFill>
                  <a:srgbClr val="FFFFFF"/>
                </a:solidFill>
                <a:latin typeface="Calibri" pitchFamily="34" charset="0"/>
                <a:ea typeface="Calibri" pitchFamily="34" charset="-122"/>
                <a:cs typeface="Calibri" pitchFamily="34" charset="-120"/>
              </a:rPr>
              <a:t>Mostofa Seum (23-50299-1),  Md. Sakib Hasan (23-50316-1),  Emon Biswas (23-50174-1)</a:t>
            </a:r>
            <a:endParaRPr lang="en-US" sz="850" dirty="0"/>
          </a:p>
        </p:txBody>
      </p:sp>
      <p:sp>
        <p:nvSpPr>
          <p:cNvPr id="8" name="Text 6"/>
          <p:cNvSpPr/>
          <p:nvPr/>
        </p:nvSpPr>
        <p:spPr>
          <a:xfrm>
            <a:off x="210880" y="867918"/>
            <a:ext cx="8229600" cy="164592"/>
          </a:xfrm>
          <a:prstGeom prst="rect">
            <a:avLst/>
          </a:prstGeom>
          <a:noFill/>
          <a:ln/>
        </p:spPr>
        <p:txBody>
          <a:bodyPr wrap="square" rtlCol="0" anchor="ctr"/>
          <a:lstStyle/>
          <a:p>
            <a:pPr marL="0" indent="0" algn="l">
              <a:buNone/>
            </a:pPr>
            <a:r>
              <a:rPr lang="en-US" sz="750" dirty="0">
                <a:solidFill>
                  <a:srgbClr val="C7D9F0"/>
                </a:solidFill>
                <a:latin typeface="Calibri" pitchFamily="34" charset="0"/>
                <a:ea typeface="Calibri" pitchFamily="34" charset="-122"/>
                <a:cs typeface="Calibri" pitchFamily="34" charset="-120"/>
              </a:rPr>
              <a:t>Department of Computer Science, American International University-Bangladesh (AIUB), Dhaka, Bangladesh</a:t>
            </a:r>
            <a:endParaRPr lang="en-US" sz="750" dirty="0"/>
          </a:p>
        </p:txBody>
      </p:sp>
      <p:sp>
        <p:nvSpPr>
          <p:cNvPr id="9" name="Text 7"/>
          <p:cNvSpPr/>
          <p:nvPr/>
        </p:nvSpPr>
        <p:spPr>
          <a:xfrm>
            <a:off x="201168" y="1047369"/>
            <a:ext cx="7315200" cy="164592"/>
          </a:xfrm>
          <a:prstGeom prst="rect">
            <a:avLst/>
          </a:prstGeom>
          <a:noFill/>
          <a:ln/>
        </p:spPr>
        <p:txBody>
          <a:bodyPr wrap="square" rtlCol="0" anchor="ctr"/>
          <a:lstStyle/>
          <a:p>
            <a:pPr marL="0" indent="0" algn="l">
              <a:buNone/>
            </a:pPr>
            <a:r>
              <a:rPr lang="en-US" sz="700" i="1" dirty="0">
                <a:solidFill>
                  <a:srgbClr val="C7D9F0"/>
                </a:solidFill>
                <a:latin typeface="Calibri" pitchFamily="34" charset="0"/>
                <a:ea typeface="Calibri" pitchFamily="34" charset="-122"/>
                <a:cs typeface="Calibri" pitchFamily="34" charset="-120"/>
              </a:rPr>
              <a:t>{23-50299-1@student.aiub.edu, 23-50316-1@student.aiub.edu, 23-50174-1@student.aiub.edu}</a:t>
            </a:r>
            <a:endParaRPr lang="en-US" sz="700" dirty="0"/>
          </a:p>
        </p:txBody>
      </p:sp>
      <p:sp>
        <p:nvSpPr>
          <p:cNvPr id="10" name="Shape 8"/>
          <p:cNvSpPr/>
          <p:nvPr/>
        </p:nvSpPr>
        <p:spPr>
          <a:xfrm>
            <a:off x="164592" y="1572768"/>
            <a:ext cx="2816352" cy="256032"/>
          </a:xfrm>
          <a:prstGeom prst="rect">
            <a:avLst/>
          </a:prstGeom>
          <a:solidFill>
            <a:srgbClr val="2E5FA3"/>
          </a:solidFill>
          <a:ln w="12700">
            <a:solidFill>
              <a:srgbClr val="2E5FA3"/>
            </a:solidFill>
            <a:prstDash val="solid"/>
          </a:ln>
        </p:spPr>
        <p:txBody>
          <a:bodyPr/>
          <a:lstStyle/>
          <a:p>
            <a:endParaRPr lang="en-US"/>
          </a:p>
        </p:txBody>
      </p:sp>
      <p:sp>
        <p:nvSpPr>
          <p:cNvPr id="11" name="Text 9"/>
          <p:cNvSpPr/>
          <p:nvPr/>
        </p:nvSpPr>
        <p:spPr>
          <a:xfrm>
            <a:off x="164592" y="157276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Introduction</a:t>
            </a:r>
            <a:endParaRPr lang="en-US" sz="950" dirty="0"/>
          </a:p>
        </p:txBody>
      </p:sp>
      <p:sp>
        <p:nvSpPr>
          <p:cNvPr id="12" name="Text 10"/>
          <p:cNvSpPr/>
          <p:nvPr/>
        </p:nvSpPr>
        <p:spPr>
          <a:xfrm>
            <a:off x="164592" y="1847088"/>
            <a:ext cx="2816352" cy="1920240"/>
          </a:xfrm>
          <a:prstGeom prst="rect">
            <a:avLst/>
          </a:prstGeom>
          <a:noFill/>
          <a:ln/>
        </p:spPr>
        <p:txBody>
          <a:bodyPr wrap="square" rtlCol="0" anchor="t"/>
          <a:lstStyle/>
          <a:p>
            <a:pPr marL="0" indent="0" algn="l">
              <a:lnSpc>
                <a:spcPct val="110000"/>
              </a:lnSpc>
              <a:buNone/>
            </a:pPr>
            <a:r>
              <a:rPr lang="en-US" sz="730" b="1" dirty="0">
                <a:solidFill>
                  <a:srgbClr val="1A1A2E"/>
                </a:solidFill>
                <a:latin typeface="Calibri" pitchFamily="34" charset="0"/>
                <a:ea typeface="Calibri" pitchFamily="34" charset="-122"/>
                <a:cs typeface="Calibri" pitchFamily="34" charset="-120"/>
              </a:rPr>
              <a:t>Skin cancer</a:t>
            </a:r>
            <a:r>
              <a:rPr lang="en-US" sz="730" dirty="0">
                <a:solidFill>
                  <a:srgbClr val="1A1A2E"/>
                </a:solidFill>
                <a:latin typeface="Calibri" pitchFamily="34" charset="0"/>
                <a:ea typeface="Calibri" pitchFamily="34" charset="-122"/>
                <a:cs typeface="Calibri" pitchFamily="34" charset="-120"/>
              </a:rPr>
              <a:t> represents a significant and growing public health challenge worldwide. Clinical evidence consistently demonstrates that early and accurate detection substantially improves patient treatment outcomes. Dermatoscopy-based imaging, combined with artificial intelligence, has shown strong potential for automated analysis of skin lesions.
While prior work has predominantly addressed lesion classification in isolation, patient metadata such as age carries independent clinical relevance. This project investigates whether a single convolutional neural network can be trained to perform both tasks concurrently:
Classify dermoscopic images into one of eight lesion diagnostic categories</a:t>
            </a:r>
            <a:endParaRPr lang="en-US" sz="730" dirty="0"/>
          </a:p>
          <a:p>
            <a:pPr algn="l">
              <a:lnSpc>
                <a:spcPct val="110000"/>
              </a:lnSpc>
              <a:buSzPct val="100000"/>
            </a:pPr>
            <a:r>
              <a:rPr lang="en-US" sz="730" dirty="0">
                <a:solidFill>
                  <a:srgbClr val="1A1A2E"/>
                </a:solidFill>
                <a:latin typeface="Calibri" pitchFamily="34" charset="0"/>
                <a:ea typeface="Calibri" pitchFamily="34" charset="-122"/>
                <a:cs typeface="Calibri" pitchFamily="34" charset="-120"/>
              </a:rPr>
              <a:t>Estimate patient age directly from the dermoscopic image</a:t>
            </a:r>
            <a:endParaRPr lang="en-US" sz="730" dirty="0"/>
          </a:p>
          <a:p>
            <a:pPr marL="0" indent="0" algn="l">
              <a:lnSpc>
                <a:spcPct val="110000"/>
              </a:lnSpc>
              <a:buNone/>
            </a:pPr>
            <a:endParaRPr lang="en-US" sz="730"/>
          </a:p>
          <a:p>
            <a:pPr marL="0" indent="0" algn="l">
              <a:lnSpc>
                <a:spcPct val="110000"/>
              </a:lnSpc>
              <a:buNone/>
            </a:pPr>
            <a:r>
              <a:rPr lang="en-US" sz="730">
                <a:solidFill>
                  <a:srgbClr val="1A1A2E"/>
                </a:solidFill>
                <a:latin typeface="Calibri" pitchFamily="34" charset="0"/>
                <a:ea typeface="Calibri" pitchFamily="34" charset="-122"/>
                <a:cs typeface="Calibri" pitchFamily="34" charset="-120"/>
              </a:rPr>
              <a:t>Experiments were conducted on the </a:t>
            </a:r>
            <a:endParaRPr lang="en-US" sz="730"/>
          </a:p>
          <a:p>
            <a:pPr marL="0" indent="0" algn="l">
              <a:lnSpc>
                <a:spcPct val="110000"/>
              </a:lnSpc>
              <a:buNone/>
            </a:pPr>
            <a:r>
              <a:rPr lang="en-US" sz="730" b="1">
                <a:solidFill>
                  <a:srgbClr val="1A1A2E"/>
                </a:solidFill>
                <a:latin typeface="Calibri" pitchFamily="34" charset="0"/>
                <a:ea typeface="Calibri" pitchFamily="34" charset="-122"/>
                <a:cs typeface="Calibri" pitchFamily="34" charset="-120"/>
              </a:rPr>
              <a:t>ISIC 2019 dataset</a:t>
            </a:r>
            <a:r>
              <a:rPr lang="en-US" sz="730">
                <a:solidFill>
                  <a:srgbClr val="1A1A2E"/>
                </a:solidFill>
                <a:latin typeface="Calibri" pitchFamily="34" charset="0"/>
                <a:ea typeface="Calibri" pitchFamily="34" charset="-122"/>
                <a:cs typeface="Calibri" pitchFamily="34" charset="-120"/>
              </a:rPr>
              <a:t> (25,331 labeled images, 8 categories) using </a:t>
            </a:r>
            <a:r>
              <a:rPr lang="en-US" sz="730" b="1">
                <a:solidFill>
                  <a:srgbClr val="1A1A2E"/>
                </a:solidFill>
                <a:latin typeface="Calibri" pitchFamily="34" charset="0"/>
                <a:ea typeface="Calibri" pitchFamily="34" charset="-122"/>
                <a:cs typeface="Calibri" pitchFamily="34" charset="-120"/>
              </a:rPr>
              <a:t>VGG16</a:t>
            </a:r>
            <a:r>
              <a:rPr lang="en-US" sz="730">
                <a:solidFill>
                  <a:srgbClr val="1A1A2E"/>
                </a:solidFill>
                <a:latin typeface="Calibri" pitchFamily="34" charset="0"/>
                <a:ea typeface="Calibri" pitchFamily="34" charset="-122"/>
                <a:cs typeface="Calibri" pitchFamily="34" charset="-120"/>
              </a:rPr>
              <a:t> and </a:t>
            </a:r>
            <a:r>
              <a:rPr lang="en-US" sz="730" b="1">
                <a:solidFill>
                  <a:srgbClr val="1A1A2E"/>
                </a:solidFill>
                <a:latin typeface="Calibri" pitchFamily="34" charset="0"/>
                <a:ea typeface="Calibri" pitchFamily="34" charset="-122"/>
                <a:cs typeface="Calibri" pitchFamily="34" charset="-120"/>
              </a:rPr>
              <a:t>ResNet50</a:t>
            </a:r>
            <a:r>
              <a:rPr lang="en-US" sz="730">
                <a:solidFill>
                  <a:srgbClr val="1A1A2E"/>
                </a:solidFill>
                <a:latin typeface="Calibri" pitchFamily="34" charset="0"/>
                <a:ea typeface="Calibri" pitchFamily="34" charset="-122"/>
                <a:cs typeface="Calibri" pitchFamily="34" charset="-120"/>
              </a:rPr>
              <a:t> under identical experimental conditions.</a:t>
            </a:r>
            <a:endParaRPr lang="en-US" sz="730" dirty="0"/>
          </a:p>
        </p:txBody>
      </p:sp>
      <p:sp>
        <p:nvSpPr>
          <p:cNvPr id="13" name="Shape 11"/>
          <p:cNvSpPr/>
          <p:nvPr/>
        </p:nvSpPr>
        <p:spPr>
          <a:xfrm>
            <a:off x="182881" y="4465828"/>
            <a:ext cx="2816352" cy="256032"/>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182881" y="446582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Methods</a:t>
            </a:r>
            <a:endParaRPr lang="en-US" sz="950" dirty="0"/>
          </a:p>
        </p:txBody>
      </p:sp>
      <p:sp>
        <p:nvSpPr>
          <p:cNvPr id="15" name="Text 13"/>
          <p:cNvSpPr/>
          <p:nvPr/>
        </p:nvSpPr>
        <p:spPr>
          <a:xfrm>
            <a:off x="155449" y="4762500"/>
            <a:ext cx="2816352" cy="164592"/>
          </a:xfrm>
          <a:prstGeom prst="rect">
            <a:avLst/>
          </a:prstGeom>
          <a:noFill/>
          <a:ln/>
        </p:spPr>
        <p:txBody>
          <a:bodyPr wrap="square" rtlCol="0" anchor="ctr"/>
          <a:lstStyle/>
          <a:p>
            <a:pPr marL="0" indent="0">
              <a:buNone/>
            </a:pPr>
            <a:r>
              <a:rPr lang="en-US" sz="750" b="1" dirty="0">
                <a:solidFill>
                  <a:srgbClr val="2E5FA3"/>
                </a:solidFill>
                <a:latin typeface="Calibri" pitchFamily="34" charset="0"/>
                <a:ea typeface="Calibri" pitchFamily="34" charset="-122"/>
                <a:cs typeface="Calibri" pitchFamily="34" charset="-120"/>
              </a:rPr>
              <a:t>DATASET &amp; PREPROCESSING</a:t>
            </a:r>
            <a:endParaRPr lang="en-US" sz="750" dirty="0"/>
          </a:p>
        </p:txBody>
      </p:sp>
      <p:sp>
        <p:nvSpPr>
          <p:cNvPr id="16" name="Text 14"/>
          <p:cNvSpPr/>
          <p:nvPr/>
        </p:nvSpPr>
        <p:spPr>
          <a:xfrm>
            <a:off x="155449" y="4922012"/>
            <a:ext cx="2816352" cy="548640"/>
          </a:xfrm>
          <a:prstGeom prst="rect">
            <a:avLst/>
          </a:prstGeom>
          <a:noFill/>
          <a:ln/>
        </p:spPr>
        <p:txBody>
          <a:bodyPr wrap="square" rtlCol="0" anchor="t"/>
          <a:lstStyle/>
          <a:p>
            <a:pPr marL="0" indent="0" algn="l">
              <a:lnSpc>
                <a:spcPct val="110000"/>
              </a:lnSpc>
              <a:buNone/>
            </a:pPr>
            <a:r>
              <a:rPr lang="en-US" sz="720" dirty="0">
                <a:solidFill>
                  <a:srgbClr val="1A1A2E"/>
                </a:solidFill>
                <a:latin typeface="Calibri" pitchFamily="34" charset="0"/>
                <a:ea typeface="Calibri" pitchFamily="34" charset="-122"/>
                <a:cs typeface="Calibri" pitchFamily="34" charset="-120"/>
              </a:rPr>
              <a:t>Images resized to 224×224px, normalized (ImageNet stats). Training: random flips, ±15° rotation, brightness/contrast jitter. 437 records with missing age removed → 24,894 samples.
Split: Train 18,288 (73%) | Val 4,586 (18%) | Test 2,457 (10%) — lesion-level grouping prevents data leakage.</a:t>
            </a:r>
            <a:endParaRPr lang="en-US" sz="720" dirty="0"/>
          </a:p>
        </p:txBody>
      </p:sp>
      <p:sp>
        <p:nvSpPr>
          <p:cNvPr id="17" name="Text 15"/>
          <p:cNvSpPr/>
          <p:nvPr/>
        </p:nvSpPr>
        <p:spPr>
          <a:xfrm>
            <a:off x="155449" y="5619496"/>
            <a:ext cx="2816352" cy="164592"/>
          </a:xfrm>
          <a:prstGeom prst="rect">
            <a:avLst/>
          </a:prstGeom>
          <a:noFill/>
          <a:ln/>
        </p:spPr>
        <p:txBody>
          <a:bodyPr wrap="square" rtlCol="0" anchor="ctr"/>
          <a:lstStyle/>
          <a:p>
            <a:pPr marL="0" indent="0">
              <a:buNone/>
            </a:pPr>
            <a:r>
              <a:rPr lang="en-US" sz="750" b="1" dirty="0">
                <a:solidFill>
                  <a:srgbClr val="2E5FA3"/>
                </a:solidFill>
                <a:latin typeface="Calibri" pitchFamily="34" charset="0"/>
                <a:ea typeface="Calibri" pitchFamily="34" charset="-122"/>
                <a:cs typeface="Calibri" pitchFamily="34" charset="-120"/>
              </a:rPr>
              <a:t>MODEL ARCHITECTURE</a:t>
            </a:r>
            <a:endParaRPr lang="en-US" sz="750" dirty="0"/>
          </a:p>
        </p:txBody>
      </p:sp>
      <p:sp>
        <p:nvSpPr>
          <p:cNvPr id="18" name="Text 16"/>
          <p:cNvSpPr/>
          <p:nvPr/>
        </p:nvSpPr>
        <p:spPr>
          <a:xfrm>
            <a:off x="155449" y="5786120"/>
            <a:ext cx="2816352" cy="548640"/>
          </a:xfrm>
          <a:prstGeom prst="rect">
            <a:avLst/>
          </a:prstGeom>
          <a:noFill/>
          <a:ln/>
        </p:spPr>
        <p:txBody>
          <a:bodyPr wrap="square" rtlCol="0" anchor="t"/>
          <a:lstStyle/>
          <a:p>
            <a:pPr marL="0" indent="0" algn="l">
              <a:lnSpc>
                <a:spcPct val="110000"/>
              </a:lnSpc>
              <a:buNone/>
            </a:pPr>
            <a:r>
              <a:rPr lang="en-US" sz="720" b="1" dirty="0">
                <a:solidFill>
                  <a:srgbClr val="1A1A2E"/>
                </a:solidFill>
                <a:latin typeface="Calibri" pitchFamily="34" charset="0"/>
                <a:ea typeface="Calibri" pitchFamily="34" charset="-122"/>
                <a:cs typeface="Calibri" pitchFamily="34" charset="-120"/>
              </a:rPr>
              <a:t>VGG16:</a:t>
            </a:r>
            <a:r>
              <a:rPr lang="en-US" sz="720" dirty="0">
                <a:solidFill>
                  <a:srgbClr val="1A1A2E"/>
                </a:solidFill>
                <a:latin typeface="Calibri" pitchFamily="34" charset="0"/>
                <a:ea typeface="Calibri" pitchFamily="34" charset="-122"/>
                <a:cs typeface="Calibri" pitchFamily="34" charset="-120"/>
              </a:rPr>
              <a:t> Deep architecture with stacked small convolutional filters (40.7M params).
</a:t>
            </a:r>
            <a:r>
              <a:rPr lang="en-US" sz="720" b="1" dirty="0">
                <a:solidFill>
                  <a:srgbClr val="1A1A2E"/>
                </a:solidFill>
                <a:latin typeface="Calibri" pitchFamily="34" charset="0"/>
                <a:ea typeface="Calibri" pitchFamily="34" charset="-122"/>
                <a:cs typeface="Calibri" pitchFamily="34" charset="-120"/>
              </a:rPr>
              <a:t>ResNet50:</a:t>
            </a:r>
            <a:r>
              <a:rPr lang="en-US" sz="720" dirty="0">
                <a:solidFill>
                  <a:srgbClr val="1A1A2E"/>
                </a:solidFill>
                <a:latin typeface="Calibri" pitchFamily="34" charset="0"/>
                <a:ea typeface="Calibri" pitchFamily="34" charset="-122"/>
                <a:cs typeface="Calibri" pitchFamily="34" charset="-120"/>
              </a:rPr>
              <a:t> Modern residual design with skip connections (24.6M params). Both pretrained on ImageNet; early layers frozen, later layers fine-tuned.</a:t>
            </a:r>
            <a:endParaRPr lang="en-US" sz="720" dirty="0"/>
          </a:p>
        </p:txBody>
      </p:sp>
      <p:sp>
        <p:nvSpPr>
          <p:cNvPr id="19" name="Text 17"/>
          <p:cNvSpPr/>
          <p:nvPr/>
        </p:nvSpPr>
        <p:spPr>
          <a:xfrm>
            <a:off x="164592" y="6442456"/>
            <a:ext cx="2816352" cy="164592"/>
          </a:xfrm>
          <a:prstGeom prst="rect">
            <a:avLst/>
          </a:prstGeom>
          <a:noFill/>
          <a:ln/>
        </p:spPr>
        <p:txBody>
          <a:bodyPr wrap="square" rtlCol="0" anchor="ctr"/>
          <a:lstStyle/>
          <a:p>
            <a:pPr marL="0" indent="0">
              <a:buNone/>
            </a:pPr>
            <a:r>
              <a:rPr lang="en-US" sz="750" b="1" dirty="0">
                <a:solidFill>
                  <a:srgbClr val="2E5FA3"/>
                </a:solidFill>
                <a:latin typeface="Calibri" pitchFamily="34" charset="0"/>
                <a:ea typeface="Calibri" pitchFamily="34" charset="-122"/>
                <a:cs typeface="Calibri" pitchFamily="34" charset="-120"/>
              </a:rPr>
              <a:t>TRAINING SETTINGS</a:t>
            </a:r>
            <a:endParaRPr lang="en-US" sz="750" dirty="0"/>
          </a:p>
        </p:txBody>
      </p:sp>
      <p:sp>
        <p:nvSpPr>
          <p:cNvPr id="20" name="Text 18"/>
          <p:cNvSpPr/>
          <p:nvPr/>
        </p:nvSpPr>
        <p:spPr>
          <a:xfrm>
            <a:off x="155449" y="6611112"/>
            <a:ext cx="2816352" cy="512064"/>
          </a:xfrm>
          <a:prstGeom prst="rect">
            <a:avLst/>
          </a:prstGeom>
          <a:noFill/>
          <a:ln/>
        </p:spPr>
        <p:txBody>
          <a:bodyPr wrap="square" rtlCol="0" anchor="t"/>
          <a:lstStyle/>
          <a:p>
            <a:pPr marL="0" indent="0" algn="l">
              <a:lnSpc>
                <a:spcPct val="110000"/>
              </a:lnSpc>
              <a:buNone/>
            </a:pPr>
            <a:r>
              <a:rPr lang="en-US" sz="720" dirty="0">
                <a:solidFill>
                  <a:srgbClr val="1A1A2E"/>
                </a:solidFill>
                <a:latin typeface="Calibri" pitchFamily="34" charset="0"/>
                <a:ea typeface="Calibri" pitchFamily="34" charset="-122"/>
                <a:cs typeface="Calibri" pitchFamily="34" charset="-120"/>
              </a:rPr>
              <a:t>Optimizer: AdamW (lr = 1×10⁻⁴)  |  Batch: 32  |  Epochs: 10
</a:t>
            </a:r>
            <a:r>
              <a:rPr lang="en-US" sz="720" b="1" dirty="0">
                <a:solidFill>
                  <a:srgbClr val="1A1A2E"/>
                </a:solidFill>
                <a:latin typeface="Calibri" pitchFamily="34" charset="0"/>
                <a:ea typeface="Calibri" pitchFamily="34" charset="-122"/>
                <a:cs typeface="Calibri" pitchFamily="34" charset="-120"/>
              </a:rPr>
              <a:t>Classification loss:</a:t>
            </a:r>
            <a:r>
              <a:rPr lang="en-US" sz="720" dirty="0">
                <a:solidFill>
                  <a:srgbClr val="1A1A2E"/>
                </a:solidFill>
                <a:latin typeface="Calibri" pitchFamily="34" charset="0"/>
                <a:ea typeface="Calibri" pitchFamily="34" charset="-122"/>
                <a:cs typeface="Calibri" pitchFamily="34" charset="-120"/>
              </a:rPr>
              <a:t> Weighted cross-entropy (handles class imbalance)
</a:t>
            </a:r>
            <a:r>
              <a:rPr lang="en-US" sz="720" b="1" dirty="0">
                <a:solidFill>
                  <a:srgbClr val="1A1A2E"/>
                </a:solidFill>
                <a:latin typeface="Calibri" pitchFamily="34" charset="0"/>
                <a:ea typeface="Calibri" pitchFamily="34" charset="-122"/>
                <a:cs typeface="Calibri" pitchFamily="34" charset="-120"/>
              </a:rPr>
              <a:t>Regression loss:</a:t>
            </a:r>
            <a:r>
              <a:rPr lang="en-US" sz="720" dirty="0">
                <a:solidFill>
                  <a:srgbClr val="1A1A2E"/>
                </a:solidFill>
                <a:latin typeface="Calibri" pitchFamily="34" charset="0"/>
                <a:ea typeface="Calibri" pitchFamily="34" charset="-122"/>
                <a:cs typeface="Calibri" pitchFamily="34" charset="-120"/>
              </a:rPr>
              <a:t> MSE on normalized age targets (μ=54.66, σ=17.86 yrs)</a:t>
            </a:r>
            <a:endParaRPr lang="en-US" sz="720" dirty="0"/>
          </a:p>
        </p:txBody>
      </p:sp>
      <p:sp>
        <p:nvSpPr>
          <p:cNvPr id="21" name="Shape 19"/>
          <p:cNvSpPr/>
          <p:nvPr/>
        </p:nvSpPr>
        <p:spPr>
          <a:xfrm>
            <a:off x="164592" y="8156448"/>
            <a:ext cx="2816352" cy="256032"/>
          </a:xfrm>
          <a:prstGeom prst="rect">
            <a:avLst/>
          </a:prstGeom>
          <a:solidFill>
            <a:srgbClr val="2E5FA3"/>
          </a:solidFill>
          <a:ln w="12700">
            <a:solidFill>
              <a:srgbClr val="2E5FA3"/>
            </a:solidFill>
            <a:prstDash val="solid"/>
          </a:ln>
        </p:spPr>
        <p:txBody>
          <a:bodyPr/>
          <a:lstStyle/>
          <a:p>
            <a:endParaRPr lang="en-US"/>
          </a:p>
        </p:txBody>
      </p:sp>
      <p:sp>
        <p:nvSpPr>
          <p:cNvPr id="22" name="Text 20"/>
          <p:cNvSpPr/>
          <p:nvPr/>
        </p:nvSpPr>
        <p:spPr>
          <a:xfrm>
            <a:off x="164592" y="815644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Data Analysis</a:t>
            </a:r>
            <a:endParaRPr lang="en-US" sz="950" dirty="0"/>
          </a:p>
        </p:txBody>
      </p:sp>
      <p:sp>
        <p:nvSpPr>
          <p:cNvPr id="23" name="Text 21"/>
          <p:cNvSpPr/>
          <p:nvPr/>
        </p:nvSpPr>
        <p:spPr>
          <a:xfrm>
            <a:off x="54864" y="8421624"/>
            <a:ext cx="2816352" cy="548640"/>
          </a:xfrm>
          <a:prstGeom prst="rect">
            <a:avLst/>
          </a:prstGeom>
          <a:noFill/>
          <a:ln/>
        </p:spPr>
        <p:txBody>
          <a:bodyPr wrap="square" rtlCol="0" anchor="t"/>
          <a:lstStyle/>
          <a:p>
            <a:pPr marL="0" indent="0" algn="l">
              <a:lnSpc>
                <a:spcPct val="110000"/>
              </a:lnSpc>
              <a:buNone/>
            </a:pPr>
            <a:r>
              <a:rPr lang="en-US" sz="720" dirty="0">
                <a:solidFill>
                  <a:srgbClr val="1A1A2E"/>
                </a:solidFill>
                <a:latin typeface="Calibri" pitchFamily="34" charset="0"/>
                <a:ea typeface="Calibri" pitchFamily="34" charset="-122"/>
                <a:cs typeface="Calibri" pitchFamily="34" charset="-120"/>
              </a:rPr>
              <a:t>The ISIC 2019 dataset is highly imbalanced. Melanocytic Nevi (NV) dominates with ~12,875 images, while rare classes like Vascular Lesions (VASC) and Squamous Cell Carcinoma (SCC) have only ~263 and ~628 images respectively.</a:t>
            </a:r>
            <a:endParaRPr lang="en-US" sz="720" dirty="0"/>
          </a:p>
        </p:txBody>
      </p:sp>
      <p:graphicFrame>
        <p:nvGraphicFramePr>
          <p:cNvPr id="24" name="Chart 0"/>
          <p:cNvGraphicFramePr/>
          <p:nvPr/>
        </p:nvGraphicFramePr>
        <p:xfrm>
          <a:off x="164592" y="9025128"/>
          <a:ext cx="2816352"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22"/>
          <p:cNvSpPr/>
          <p:nvPr/>
        </p:nvSpPr>
        <p:spPr>
          <a:xfrm>
            <a:off x="164592" y="10744200"/>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Fig 1. NV class dominates, creating class imbalance.</a:t>
            </a:r>
            <a:endParaRPr lang="en-US" sz="650" dirty="0"/>
          </a:p>
        </p:txBody>
      </p:sp>
      <p:sp>
        <p:nvSpPr>
          <p:cNvPr id="26" name="Shape 23"/>
          <p:cNvSpPr/>
          <p:nvPr/>
        </p:nvSpPr>
        <p:spPr>
          <a:xfrm>
            <a:off x="3136392" y="1572768"/>
            <a:ext cx="2816352" cy="256032"/>
          </a:xfrm>
          <a:prstGeom prst="rect">
            <a:avLst/>
          </a:prstGeom>
          <a:solidFill>
            <a:srgbClr val="2E5FA3"/>
          </a:solidFill>
          <a:ln w="12700">
            <a:solidFill>
              <a:srgbClr val="2E5FA3"/>
            </a:solidFill>
            <a:prstDash val="solid"/>
          </a:ln>
        </p:spPr>
        <p:txBody>
          <a:bodyPr/>
          <a:lstStyle/>
          <a:p>
            <a:endParaRPr lang="en-US"/>
          </a:p>
        </p:txBody>
      </p:sp>
      <p:sp>
        <p:nvSpPr>
          <p:cNvPr id="27" name="Text 24"/>
          <p:cNvSpPr/>
          <p:nvPr/>
        </p:nvSpPr>
        <p:spPr>
          <a:xfrm>
            <a:off x="3136392" y="157276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Results: Classification</a:t>
            </a:r>
            <a:endParaRPr lang="en-US" sz="950" dirty="0"/>
          </a:p>
        </p:txBody>
      </p:sp>
      <p:graphicFrame>
        <p:nvGraphicFramePr>
          <p:cNvPr id="28" name="Table 0"/>
          <p:cNvGraphicFramePr>
            <a:graphicFrameLocks noGrp="1"/>
          </p:cNvGraphicFramePr>
          <p:nvPr>
            <p:extLst>
              <p:ext uri="{D42A27DB-BD31-4B8C-83A1-F6EECF244321}">
                <p14:modId xmlns:p14="http://schemas.microsoft.com/office/powerpoint/2010/main" val="1108028979"/>
              </p:ext>
            </p:extLst>
          </p:nvPr>
        </p:nvGraphicFramePr>
        <p:xfrm>
          <a:off x="3136392" y="1877758"/>
          <a:ext cx="2816352" cy="617220"/>
        </p:xfrm>
        <a:graphic>
          <a:graphicData uri="http://schemas.openxmlformats.org/drawingml/2006/table">
            <a:tbl>
              <a:tblPr/>
              <a:tblGrid>
                <a:gridCol w="804672">
                  <a:extLst>
                    <a:ext uri="{9D8B030D-6E8A-4147-A177-3AD203B41FA5}">
                      <a16:colId xmlns:a16="http://schemas.microsoft.com/office/drawing/2014/main" val="20000"/>
                    </a:ext>
                  </a:extLst>
                </a:gridCol>
                <a:gridCol w="676656">
                  <a:extLst>
                    <a:ext uri="{9D8B030D-6E8A-4147-A177-3AD203B41FA5}">
                      <a16:colId xmlns:a16="http://schemas.microsoft.com/office/drawing/2014/main" val="20001"/>
                    </a:ext>
                  </a:extLst>
                </a:gridCol>
                <a:gridCol w="676656">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tblGrid>
              <a:tr h="167640">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Model</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Accuracy</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Macro F1</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Best Val F1</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extLst>
                  <a:ext uri="{0D108BD9-81ED-4DB2-BD59-A6C34878D82A}">
                    <a16:rowId xmlns:a16="http://schemas.microsoft.com/office/drawing/2014/main" val="10000"/>
                  </a:ext>
                </a:extLst>
              </a:tr>
              <a:tr h="167640">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VGG16</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65.57%</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0.4977</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0.5200</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extLst>
                  <a:ext uri="{0D108BD9-81ED-4DB2-BD59-A6C34878D82A}">
                    <a16:rowId xmlns:a16="http://schemas.microsoft.com/office/drawing/2014/main" val="10001"/>
                  </a:ext>
                </a:extLst>
              </a:tr>
              <a:tr h="167640">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ResNet50</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68.82%</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0.5423</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0.5141</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9" name="Text 25"/>
          <p:cNvSpPr/>
          <p:nvPr/>
        </p:nvSpPr>
        <p:spPr>
          <a:xfrm>
            <a:off x="3136392" y="2482215"/>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Table I. Classification Results on Test Set</a:t>
            </a:r>
            <a:endParaRPr lang="en-US" sz="650" dirty="0"/>
          </a:p>
        </p:txBody>
      </p:sp>
      <p:graphicFrame>
        <p:nvGraphicFramePr>
          <p:cNvPr id="30" name="Chart 1"/>
          <p:cNvGraphicFramePr/>
          <p:nvPr>
            <p:extLst>
              <p:ext uri="{D42A27DB-BD31-4B8C-83A1-F6EECF244321}">
                <p14:modId xmlns:p14="http://schemas.microsoft.com/office/powerpoint/2010/main" val="796281697"/>
              </p:ext>
            </p:extLst>
          </p:nvPr>
        </p:nvGraphicFramePr>
        <p:xfrm>
          <a:off x="3136392" y="2633472"/>
          <a:ext cx="2816352" cy="1417320"/>
        </p:xfrm>
        <a:graphic>
          <a:graphicData uri="http://schemas.openxmlformats.org/drawingml/2006/chart">
            <c:chart xmlns:c="http://schemas.openxmlformats.org/drawingml/2006/chart" xmlns:r="http://schemas.openxmlformats.org/officeDocument/2006/relationships" r:id="rId4"/>
          </a:graphicData>
        </a:graphic>
      </p:graphicFrame>
      <p:sp>
        <p:nvSpPr>
          <p:cNvPr id="31" name="Text 26"/>
          <p:cNvSpPr/>
          <p:nvPr/>
        </p:nvSpPr>
        <p:spPr>
          <a:xfrm>
            <a:off x="3118105" y="4050792"/>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Fig 2. ResNet50 outperforms VGG16 on both accuracy and Macro F1.</a:t>
            </a:r>
            <a:endParaRPr lang="en-US" sz="650" dirty="0"/>
          </a:p>
        </p:txBody>
      </p:sp>
      <p:sp>
        <p:nvSpPr>
          <p:cNvPr id="32" name="Shape 27"/>
          <p:cNvSpPr/>
          <p:nvPr/>
        </p:nvSpPr>
        <p:spPr>
          <a:xfrm>
            <a:off x="3154681" y="4261104"/>
            <a:ext cx="2816352" cy="256032"/>
          </a:xfrm>
          <a:prstGeom prst="rect">
            <a:avLst/>
          </a:prstGeom>
          <a:solidFill>
            <a:srgbClr val="2E5FA3"/>
          </a:solidFill>
          <a:ln w="12700">
            <a:solidFill>
              <a:srgbClr val="2E5FA3"/>
            </a:solidFill>
            <a:prstDash val="solid"/>
          </a:ln>
        </p:spPr>
        <p:txBody>
          <a:bodyPr/>
          <a:lstStyle/>
          <a:p>
            <a:endParaRPr lang="en-US"/>
          </a:p>
        </p:txBody>
      </p:sp>
      <p:sp>
        <p:nvSpPr>
          <p:cNvPr id="33" name="Text 28"/>
          <p:cNvSpPr/>
          <p:nvPr/>
        </p:nvSpPr>
        <p:spPr>
          <a:xfrm>
            <a:off x="3166872" y="4248912"/>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Results: Age Regression</a:t>
            </a:r>
            <a:endParaRPr lang="en-US" sz="950" dirty="0"/>
          </a:p>
        </p:txBody>
      </p:sp>
      <p:graphicFrame>
        <p:nvGraphicFramePr>
          <p:cNvPr id="34" name="Table 1"/>
          <p:cNvGraphicFramePr>
            <a:graphicFrameLocks noGrp="1"/>
          </p:cNvGraphicFramePr>
          <p:nvPr>
            <p:extLst>
              <p:ext uri="{D42A27DB-BD31-4B8C-83A1-F6EECF244321}">
                <p14:modId xmlns:p14="http://schemas.microsoft.com/office/powerpoint/2010/main" val="2323586827"/>
              </p:ext>
            </p:extLst>
          </p:nvPr>
        </p:nvGraphicFramePr>
        <p:xfrm>
          <a:off x="3154681" y="4558284"/>
          <a:ext cx="2816352" cy="617220"/>
        </p:xfrm>
        <a:graphic>
          <a:graphicData uri="http://schemas.openxmlformats.org/drawingml/2006/table">
            <a:tbl>
              <a:tblPr/>
              <a:tblGrid>
                <a:gridCol w="804672">
                  <a:extLst>
                    <a:ext uri="{9D8B030D-6E8A-4147-A177-3AD203B41FA5}">
                      <a16:colId xmlns:a16="http://schemas.microsoft.com/office/drawing/2014/main" val="20000"/>
                    </a:ext>
                  </a:extLst>
                </a:gridCol>
                <a:gridCol w="676656">
                  <a:extLst>
                    <a:ext uri="{9D8B030D-6E8A-4147-A177-3AD203B41FA5}">
                      <a16:colId xmlns:a16="http://schemas.microsoft.com/office/drawing/2014/main" val="20001"/>
                    </a:ext>
                  </a:extLst>
                </a:gridCol>
                <a:gridCol w="676656">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tblGrid>
              <a:tr h="167640">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Model</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MAE (yrs)</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RMSE (yrs)</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R²</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solidFill>
                      <a:srgbClr val="2E5FA3"/>
                    </a:solidFill>
                  </a:tcPr>
                </a:tc>
                <a:extLst>
                  <a:ext uri="{0D108BD9-81ED-4DB2-BD59-A6C34878D82A}">
                    <a16:rowId xmlns:a16="http://schemas.microsoft.com/office/drawing/2014/main" val="10000"/>
                  </a:ext>
                </a:extLst>
              </a:tr>
              <a:tr h="167640">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VGG16</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10.914</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14.047</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dirty="0">
                          <a:solidFill>
                            <a:srgbClr val="000000"/>
                          </a:solidFill>
                          <a:latin typeface="Calibri" pitchFamily="34" charset="0"/>
                          <a:ea typeface="Calibri" pitchFamily="34" charset="-122"/>
                          <a:cs typeface="Calibri" pitchFamily="34" charset="-120"/>
                        </a:rPr>
                        <a:t>0.3054</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extLst>
                  <a:ext uri="{0D108BD9-81ED-4DB2-BD59-A6C34878D82A}">
                    <a16:rowId xmlns:a16="http://schemas.microsoft.com/office/drawing/2014/main" val="10001"/>
                  </a:ext>
                </a:extLst>
              </a:tr>
              <a:tr h="167640">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ResNet50</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10.337</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13.340</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tc>
                  <a:txBody>
                    <a:bodyPr/>
                    <a:lstStyle/>
                    <a:p>
                      <a:pPr marL="0" indent="0">
                        <a:buNone/>
                      </a:pPr>
                      <a:r>
                        <a:rPr lang="en-US" sz="750" b="1" dirty="0">
                          <a:solidFill>
                            <a:srgbClr val="2E5FA3"/>
                          </a:solidFill>
                          <a:latin typeface="Calibri" pitchFamily="34" charset="0"/>
                          <a:ea typeface="Calibri" pitchFamily="34" charset="-122"/>
                          <a:cs typeface="Calibri" pitchFamily="34" charset="-120"/>
                        </a:rPr>
                        <a:t>0.3736</a:t>
                      </a:r>
                      <a:endParaRPr lang="en-US" sz="750" dirty="0">
                        <a:latin typeface="Calibri" charset="0"/>
                        <a:ea typeface="Calibri" charset="0"/>
                        <a:cs typeface="Calibri" charset="0"/>
                      </a:endParaRPr>
                    </a:p>
                  </a:txBody>
                  <a:tcPr>
                    <a:lnL w="10160" cap="flat" cmpd="sng" algn="ctr">
                      <a:solidFill>
                        <a:srgbClr val="3D72C6"/>
                      </a:solidFill>
                      <a:prstDash val="solid"/>
                      <a:round/>
                      <a:headEnd type="none" w="med" len="med"/>
                      <a:tailEnd type="none" w="med" len="med"/>
                    </a:lnL>
                    <a:lnR w="10160" cap="flat" cmpd="sng" algn="ctr">
                      <a:solidFill>
                        <a:srgbClr val="3D72C6"/>
                      </a:solidFill>
                      <a:prstDash val="solid"/>
                      <a:round/>
                      <a:headEnd type="none" w="med" len="med"/>
                      <a:tailEnd type="none" w="med" len="med"/>
                    </a:lnR>
                    <a:lnT w="10160" cap="flat" cmpd="sng" algn="ctr">
                      <a:solidFill>
                        <a:srgbClr val="3D72C6"/>
                      </a:solidFill>
                      <a:prstDash val="solid"/>
                      <a:round/>
                      <a:headEnd type="none" w="med" len="med"/>
                      <a:tailEnd type="none" w="med" len="med"/>
                    </a:lnT>
                    <a:lnB w="10160" cap="flat" cmpd="sng" algn="ctr">
                      <a:solidFill>
                        <a:srgbClr val="3D72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5" name="Text 29"/>
          <p:cNvSpPr/>
          <p:nvPr/>
        </p:nvSpPr>
        <p:spPr>
          <a:xfrm>
            <a:off x="3118105" y="5159502"/>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Table II. Age Regression Results on Test Set</a:t>
            </a:r>
            <a:endParaRPr lang="en-US" sz="650" dirty="0"/>
          </a:p>
        </p:txBody>
      </p:sp>
      <p:graphicFrame>
        <p:nvGraphicFramePr>
          <p:cNvPr id="36" name="Chart 2"/>
          <p:cNvGraphicFramePr/>
          <p:nvPr>
            <p:extLst>
              <p:ext uri="{D42A27DB-BD31-4B8C-83A1-F6EECF244321}">
                <p14:modId xmlns:p14="http://schemas.microsoft.com/office/powerpoint/2010/main" val="2157353351"/>
              </p:ext>
            </p:extLst>
          </p:nvPr>
        </p:nvGraphicFramePr>
        <p:xfrm>
          <a:off x="3136392" y="5320093"/>
          <a:ext cx="2816352" cy="1325880"/>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 30"/>
          <p:cNvSpPr/>
          <p:nvPr/>
        </p:nvSpPr>
        <p:spPr>
          <a:xfrm>
            <a:off x="3136392" y="6638163"/>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Fig 3. ResNet50 achieves lower MAE and RMSE for age prediction.</a:t>
            </a:r>
            <a:endParaRPr lang="en-US" sz="650" dirty="0"/>
          </a:p>
        </p:txBody>
      </p:sp>
      <p:sp>
        <p:nvSpPr>
          <p:cNvPr id="38" name="Shape 31"/>
          <p:cNvSpPr/>
          <p:nvPr/>
        </p:nvSpPr>
        <p:spPr>
          <a:xfrm>
            <a:off x="3136392" y="6880479"/>
            <a:ext cx="2816352" cy="256032"/>
          </a:xfrm>
          <a:prstGeom prst="rect">
            <a:avLst/>
          </a:prstGeom>
          <a:solidFill>
            <a:srgbClr val="2E5FA3"/>
          </a:solidFill>
          <a:ln w="12700">
            <a:solidFill>
              <a:srgbClr val="2E5FA3"/>
            </a:solidFill>
            <a:prstDash val="solid"/>
          </a:ln>
        </p:spPr>
        <p:txBody>
          <a:bodyPr/>
          <a:lstStyle/>
          <a:p>
            <a:endParaRPr lang="en-US"/>
          </a:p>
        </p:txBody>
      </p:sp>
      <p:sp>
        <p:nvSpPr>
          <p:cNvPr id="39" name="Text 32"/>
          <p:cNvSpPr/>
          <p:nvPr/>
        </p:nvSpPr>
        <p:spPr>
          <a:xfrm>
            <a:off x="3159252" y="6861429"/>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Model Efficiency</a:t>
            </a:r>
            <a:endParaRPr lang="en-US" sz="950" dirty="0"/>
          </a:p>
        </p:txBody>
      </p:sp>
      <p:sp>
        <p:nvSpPr>
          <p:cNvPr id="40" name="Text 33"/>
          <p:cNvSpPr/>
          <p:nvPr/>
        </p:nvSpPr>
        <p:spPr>
          <a:xfrm>
            <a:off x="3136392" y="7141464"/>
            <a:ext cx="2816352" cy="457200"/>
          </a:xfrm>
          <a:prstGeom prst="rect">
            <a:avLst/>
          </a:prstGeom>
          <a:noFill/>
          <a:ln/>
        </p:spPr>
        <p:txBody>
          <a:bodyPr wrap="square" rtlCol="0" anchor="t"/>
          <a:lstStyle/>
          <a:p>
            <a:pPr marL="0" indent="0" algn="l">
              <a:lnSpc>
                <a:spcPct val="110000"/>
              </a:lnSpc>
              <a:buNone/>
            </a:pPr>
            <a:r>
              <a:rPr lang="en-US" sz="750" b="1" dirty="0">
                <a:solidFill>
                  <a:srgbClr val="1A1A2E"/>
                </a:solidFill>
                <a:latin typeface="Calibri" pitchFamily="34" charset="0"/>
                <a:ea typeface="Calibri" pitchFamily="34" charset="-122"/>
                <a:cs typeface="Calibri" pitchFamily="34" charset="-120"/>
              </a:rPr>
              <a:t>ResNet50</a:t>
            </a:r>
            <a:r>
              <a:rPr lang="en-US" sz="750" dirty="0">
                <a:solidFill>
                  <a:srgbClr val="1A1A2E"/>
                </a:solidFill>
                <a:latin typeface="Calibri" pitchFamily="34" charset="0"/>
                <a:ea typeface="Calibri" pitchFamily="34" charset="-122"/>
                <a:cs typeface="Calibri" pitchFamily="34" charset="-120"/>
              </a:rPr>
              <a:t> uses ~24.6M parameters vs VGG16's ~40.7M, while achieving better performance on both tasks. This makes ResNet50 faster to run and more suitable for real-world clinical deployment.</a:t>
            </a:r>
            <a:endParaRPr lang="en-US" sz="750" dirty="0"/>
          </a:p>
        </p:txBody>
      </p:sp>
      <p:graphicFrame>
        <p:nvGraphicFramePr>
          <p:cNvPr id="41" name="Chart 3"/>
          <p:cNvGraphicFramePr/>
          <p:nvPr>
            <p:extLst>
              <p:ext uri="{D42A27DB-BD31-4B8C-83A1-F6EECF244321}">
                <p14:modId xmlns:p14="http://schemas.microsoft.com/office/powerpoint/2010/main" val="1999446693"/>
              </p:ext>
            </p:extLst>
          </p:nvPr>
        </p:nvGraphicFramePr>
        <p:xfrm>
          <a:off x="3136391" y="7593330"/>
          <a:ext cx="2816352" cy="1005840"/>
        </p:xfrm>
        <a:graphic>
          <a:graphicData uri="http://schemas.openxmlformats.org/drawingml/2006/chart">
            <c:chart xmlns:c="http://schemas.openxmlformats.org/drawingml/2006/chart" xmlns:r="http://schemas.openxmlformats.org/officeDocument/2006/relationships" r:id="rId6"/>
          </a:graphicData>
        </a:graphic>
      </p:graphicFrame>
      <p:sp>
        <p:nvSpPr>
          <p:cNvPr id="42" name="Text 34"/>
          <p:cNvSpPr/>
          <p:nvPr/>
        </p:nvSpPr>
        <p:spPr>
          <a:xfrm>
            <a:off x="3136392" y="8631174"/>
            <a:ext cx="2816352" cy="146304"/>
          </a:xfrm>
          <a:prstGeom prst="rect">
            <a:avLst/>
          </a:prstGeom>
          <a:noFill/>
          <a:ln/>
        </p:spPr>
        <p:txBody>
          <a:bodyPr wrap="square" rtlCol="0" anchor="ctr"/>
          <a:lstStyle/>
          <a:p>
            <a:pPr marL="0" indent="0" algn="ctr">
              <a:buNone/>
            </a:pPr>
            <a:r>
              <a:rPr lang="en-US" sz="650" i="1" dirty="0">
                <a:solidFill>
                  <a:srgbClr val="6B7280"/>
                </a:solidFill>
                <a:latin typeface="Calibri" pitchFamily="34" charset="0"/>
                <a:ea typeface="Calibri" pitchFamily="34" charset="-122"/>
                <a:cs typeface="Calibri" pitchFamily="34" charset="-120"/>
              </a:rPr>
              <a:t>Fig 4. ResNet50 is significantly lighter with fewer parameters.</a:t>
            </a:r>
            <a:endParaRPr lang="en-US" sz="650" dirty="0"/>
          </a:p>
        </p:txBody>
      </p:sp>
      <p:sp>
        <p:nvSpPr>
          <p:cNvPr id="43" name="Shape 35"/>
          <p:cNvSpPr/>
          <p:nvPr/>
        </p:nvSpPr>
        <p:spPr>
          <a:xfrm>
            <a:off x="3136391" y="8887968"/>
            <a:ext cx="2816352" cy="256032"/>
          </a:xfrm>
          <a:prstGeom prst="rect">
            <a:avLst/>
          </a:prstGeom>
          <a:solidFill>
            <a:srgbClr val="2E5FA3"/>
          </a:solidFill>
          <a:ln w="12700">
            <a:solidFill>
              <a:srgbClr val="2E5FA3"/>
            </a:solidFill>
            <a:prstDash val="solid"/>
          </a:ln>
        </p:spPr>
        <p:txBody>
          <a:bodyPr/>
          <a:lstStyle/>
          <a:p>
            <a:endParaRPr lang="en-US"/>
          </a:p>
        </p:txBody>
      </p:sp>
      <p:sp>
        <p:nvSpPr>
          <p:cNvPr id="44" name="Text 36"/>
          <p:cNvSpPr/>
          <p:nvPr/>
        </p:nvSpPr>
        <p:spPr>
          <a:xfrm>
            <a:off x="3136392" y="886891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Visual Explanations (Grad-CAM++)</a:t>
            </a:r>
            <a:endParaRPr lang="en-US" sz="950" dirty="0"/>
          </a:p>
        </p:txBody>
      </p:sp>
      <p:sp>
        <p:nvSpPr>
          <p:cNvPr id="45" name="Text 37"/>
          <p:cNvSpPr/>
          <p:nvPr/>
        </p:nvSpPr>
        <p:spPr>
          <a:xfrm>
            <a:off x="3104387" y="9152382"/>
            <a:ext cx="2816352" cy="256032"/>
          </a:xfrm>
          <a:prstGeom prst="rect">
            <a:avLst/>
          </a:prstGeom>
          <a:noFill/>
          <a:ln/>
        </p:spPr>
        <p:txBody>
          <a:bodyPr wrap="square" rtlCol="0" anchor="t"/>
          <a:lstStyle/>
          <a:p>
            <a:pPr marL="0" indent="0" algn="l">
              <a:lnSpc>
                <a:spcPct val="110000"/>
              </a:lnSpc>
              <a:buNone/>
            </a:pPr>
            <a:r>
              <a:rPr lang="en-US" sz="700" dirty="0">
                <a:solidFill>
                  <a:srgbClr val="1A1A2E"/>
                </a:solidFill>
                <a:latin typeface="Calibri" pitchFamily="34" charset="0"/>
                <a:ea typeface="Calibri" pitchFamily="34" charset="-122"/>
                <a:cs typeface="Calibri" pitchFamily="34" charset="-120"/>
              </a:rPr>
              <a:t>Red/yellow = high attention. Classification focuses on lesions; regression attention is more diffuse.</a:t>
            </a:r>
            <a:endParaRPr lang="en-US" sz="700" dirty="0"/>
          </a:p>
        </p:txBody>
      </p:sp>
      <p:sp>
        <p:nvSpPr>
          <p:cNvPr id="46" name="Shape 38"/>
          <p:cNvSpPr/>
          <p:nvPr/>
        </p:nvSpPr>
        <p:spPr>
          <a:xfrm>
            <a:off x="3136391" y="9553956"/>
            <a:ext cx="1353312" cy="146304"/>
          </a:xfrm>
          <a:prstGeom prst="rect">
            <a:avLst/>
          </a:prstGeom>
          <a:solidFill>
            <a:srgbClr val="2E5FA3"/>
          </a:solidFill>
          <a:ln w="12700">
            <a:solidFill>
              <a:srgbClr val="2E5FA3"/>
            </a:solidFill>
            <a:prstDash val="solid"/>
          </a:ln>
        </p:spPr>
        <p:txBody>
          <a:bodyPr/>
          <a:lstStyle/>
          <a:p>
            <a:endParaRPr lang="en-US"/>
          </a:p>
        </p:txBody>
      </p:sp>
      <p:sp>
        <p:nvSpPr>
          <p:cNvPr id="47" name="Text 39"/>
          <p:cNvSpPr/>
          <p:nvPr/>
        </p:nvSpPr>
        <p:spPr>
          <a:xfrm>
            <a:off x="3136391" y="9553956"/>
            <a:ext cx="1353312" cy="146304"/>
          </a:xfrm>
          <a:prstGeom prst="rect">
            <a:avLst/>
          </a:prstGeom>
          <a:noFill/>
          <a:ln/>
        </p:spPr>
        <p:txBody>
          <a:bodyPr wrap="square"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VGG16 — Classification</a:t>
            </a:r>
            <a:endParaRPr lang="en-US" sz="600" dirty="0"/>
          </a:p>
        </p:txBody>
      </p:sp>
      <p:pic>
        <p:nvPicPr>
          <p:cNvPr id="48" name="Image 0" descr="/home/claude/pdf_images/img-014.png"/>
          <p:cNvPicPr>
            <a:picLocks noChangeAspect="1"/>
          </p:cNvPicPr>
          <p:nvPr/>
        </p:nvPicPr>
        <p:blipFill>
          <a:blip r:embed="rId7"/>
          <a:stretch>
            <a:fillRect/>
          </a:stretch>
        </p:blipFill>
        <p:spPr>
          <a:xfrm>
            <a:off x="3136391" y="9709403"/>
            <a:ext cx="1353312" cy="1083945"/>
          </a:xfrm>
          <a:prstGeom prst="rect">
            <a:avLst/>
          </a:prstGeom>
        </p:spPr>
      </p:pic>
      <p:sp>
        <p:nvSpPr>
          <p:cNvPr id="49" name="Shape 40"/>
          <p:cNvSpPr/>
          <p:nvPr/>
        </p:nvSpPr>
        <p:spPr>
          <a:xfrm>
            <a:off x="4599431" y="9553956"/>
            <a:ext cx="1353312" cy="146304"/>
          </a:xfrm>
          <a:prstGeom prst="rect">
            <a:avLst/>
          </a:prstGeom>
          <a:solidFill>
            <a:srgbClr val="2E5FA3"/>
          </a:solidFill>
          <a:ln w="12700">
            <a:solidFill>
              <a:srgbClr val="2E5FA3"/>
            </a:solidFill>
            <a:prstDash val="solid"/>
          </a:ln>
        </p:spPr>
        <p:txBody>
          <a:bodyPr/>
          <a:lstStyle/>
          <a:p>
            <a:endParaRPr lang="en-US"/>
          </a:p>
        </p:txBody>
      </p:sp>
      <p:sp>
        <p:nvSpPr>
          <p:cNvPr id="50" name="Text 41"/>
          <p:cNvSpPr/>
          <p:nvPr/>
        </p:nvSpPr>
        <p:spPr>
          <a:xfrm>
            <a:off x="4599431" y="9553956"/>
            <a:ext cx="1353312" cy="146304"/>
          </a:xfrm>
          <a:prstGeom prst="rect">
            <a:avLst/>
          </a:prstGeom>
          <a:noFill/>
          <a:ln/>
        </p:spPr>
        <p:txBody>
          <a:bodyPr wrap="square"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ResNet50 — Classification</a:t>
            </a:r>
            <a:endParaRPr lang="en-US" sz="600" dirty="0"/>
          </a:p>
        </p:txBody>
      </p:sp>
      <p:pic>
        <p:nvPicPr>
          <p:cNvPr id="51" name="Image 1" descr="/home/claude/pdf_images/img-016.png"/>
          <p:cNvPicPr>
            <a:picLocks noChangeAspect="1"/>
          </p:cNvPicPr>
          <p:nvPr/>
        </p:nvPicPr>
        <p:blipFill>
          <a:blip r:embed="rId8"/>
          <a:stretch>
            <a:fillRect/>
          </a:stretch>
        </p:blipFill>
        <p:spPr>
          <a:xfrm>
            <a:off x="4599431" y="9709404"/>
            <a:ext cx="1353312" cy="1083944"/>
          </a:xfrm>
          <a:prstGeom prst="rect">
            <a:avLst/>
          </a:prstGeom>
        </p:spPr>
      </p:pic>
      <p:sp>
        <p:nvSpPr>
          <p:cNvPr id="52" name="Shape 42"/>
          <p:cNvSpPr/>
          <p:nvPr/>
        </p:nvSpPr>
        <p:spPr>
          <a:xfrm>
            <a:off x="3131915" y="10870819"/>
            <a:ext cx="1353312" cy="146304"/>
          </a:xfrm>
          <a:prstGeom prst="rect">
            <a:avLst/>
          </a:prstGeom>
          <a:solidFill>
            <a:srgbClr val="E8512A"/>
          </a:solidFill>
          <a:ln w="12700">
            <a:solidFill>
              <a:srgbClr val="E8512A"/>
            </a:solidFill>
            <a:prstDash val="solid"/>
          </a:ln>
        </p:spPr>
        <p:txBody>
          <a:bodyPr/>
          <a:lstStyle/>
          <a:p>
            <a:endParaRPr lang="en-US"/>
          </a:p>
        </p:txBody>
      </p:sp>
      <p:sp>
        <p:nvSpPr>
          <p:cNvPr id="53" name="Text 43"/>
          <p:cNvSpPr/>
          <p:nvPr/>
        </p:nvSpPr>
        <p:spPr>
          <a:xfrm>
            <a:off x="3131915" y="10870819"/>
            <a:ext cx="1353312" cy="146304"/>
          </a:xfrm>
          <a:prstGeom prst="rect">
            <a:avLst/>
          </a:prstGeom>
          <a:noFill/>
          <a:ln/>
        </p:spPr>
        <p:txBody>
          <a:bodyPr wrap="square"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VGG16 — Age Regression</a:t>
            </a:r>
            <a:endParaRPr lang="en-US" sz="600" dirty="0"/>
          </a:p>
        </p:txBody>
      </p:sp>
      <p:pic>
        <p:nvPicPr>
          <p:cNvPr id="54" name="Image 2" descr="/home/claude/pdf_images/img-018.png"/>
          <p:cNvPicPr>
            <a:picLocks noChangeAspect="1"/>
          </p:cNvPicPr>
          <p:nvPr/>
        </p:nvPicPr>
        <p:blipFill>
          <a:blip r:embed="rId9"/>
          <a:stretch>
            <a:fillRect/>
          </a:stretch>
        </p:blipFill>
        <p:spPr>
          <a:xfrm>
            <a:off x="3131915" y="11105578"/>
            <a:ext cx="1403511" cy="1448372"/>
          </a:xfrm>
          <a:prstGeom prst="rect">
            <a:avLst/>
          </a:prstGeom>
        </p:spPr>
      </p:pic>
      <p:sp>
        <p:nvSpPr>
          <p:cNvPr id="55" name="Shape 44"/>
          <p:cNvSpPr/>
          <p:nvPr/>
        </p:nvSpPr>
        <p:spPr>
          <a:xfrm>
            <a:off x="4594955" y="10870819"/>
            <a:ext cx="1353312" cy="146304"/>
          </a:xfrm>
          <a:prstGeom prst="rect">
            <a:avLst/>
          </a:prstGeom>
          <a:solidFill>
            <a:srgbClr val="E8512A"/>
          </a:solidFill>
          <a:ln w="12700">
            <a:solidFill>
              <a:srgbClr val="E8512A"/>
            </a:solidFill>
            <a:prstDash val="solid"/>
          </a:ln>
        </p:spPr>
        <p:txBody>
          <a:bodyPr/>
          <a:lstStyle/>
          <a:p>
            <a:endParaRPr lang="en-US"/>
          </a:p>
        </p:txBody>
      </p:sp>
      <p:sp>
        <p:nvSpPr>
          <p:cNvPr id="56" name="Text 45"/>
          <p:cNvSpPr/>
          <p:nvPr/>
        </p:nvSpPr>
        <p:spPr>
          <a:xfrm>
            <a:off x="4594955" y="10870819"/>
            <a:ext cx="1353312" cy="146304"/>
          </a:xfrm>
          <a:prstGeom prst="rect">
            <a:avLst/>
          </a:prstGeom>
          <a:noFill/>
          <a:ln/>
        </p:spPr>
        <p:txBody>
          <a:bodyPr wrap="square"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ResNet50 — Age Regression</a:t>
            </a:r>
            <a:endParaRPr lang="en-US" sz="600" dirty="0"/>
          </a:p>
        </p:txBody>
      </p:sp>
      <p:pic>
        <p:nvPicPr>
          <p:cNvPr id="57" name="Image 3" descr="/home/claude/pdf_images/img-020.png"/>
          <p:cNvPicPr>
            <a:picLocks noChangeAspect="1"/>
          </p:cNvPicPr>
          <p:nvPr/>
        </p:nvPicPr>
        <p:blipFill>
          <a:blip r:embed="rId10"/>
          <a:stretch>
            <a:fillRect/>
          </a:stretch>
        </p:blipFill>
        <p:spPr>
          <a:xfrm>
            <a:off x="4599431" y="11105578"/>
            <a:ext cx="1353312" cy="1448371"/>
          </a:xfrm>
          <a:prstGeom prst="rect">
            <a:avLst/>
          </a:prstGeom>
        </p:spPr>
      </p:pic>
      <p:sp>
        <p:nvSpPr>
          <p:cNvPr id="58" name="Shape 46"/>
          <p:cNvSpPr/>
          <p:nvPr/>
        </p:nvSpPr>
        <p:spPr>
          <a:xfrm>
            <a:off x="6108192" y="1572768"/>
            <a:ext cx="2816352" cy="256032"/>
          </a:xfrm>
          <a:prstGeom prst="rect">
            <a:avLst/>
          </a:prstGeom>
          <a:solidFill>
            <a:srgbClr val="2E5FA3"/>
          </a:solidFill>
          <a:ln w="12700">
            <a:solidFill>
              <a:srgbClr val="2E5FA3"/>
            </a:solidFill>
            <a:prstDash val="solid"/>
          </a:ln>
        </p:spPr>
        <p:txBody>
          <a:bodyPr/>
          <a:lstStyle/>
          <a:p>
            <a:endParaRPr lang="en-US"/>
          </a:p>
        </p:txBody>
      </p:sp>
      <p:sp>
        <p:nvSpPr>
          <p:cNvPr id="59" name="Text 47"/>
          <p:cNvSpPr/>
          <p:nvPr/>
        </p:nvSpPr>
        <p:spPr>
          <a:xfrm>
            <a:off x="6108192" y="157276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Abstract</a:t>
            </a:r>
            <a:endParaRPr lang="en-US" sz="950" dirty="0"/>
          </a:p>
        </p:txBody>
      </p:sp>
      <p:sp>
        <p:nvSpPr>
          <p:cNvPr id="60" name="Text 48"/>
          <p:cNvSpPr/>
          <p:nvPr/>
        </p:nvSpPr>
        <p:spPr>
          <a:xfrm>
            <a:off x="6108192" y="1847088"/>
            <a:ext cx="2816352" cy="1097280"/>
          </a:xfrm>
          <a:prstGeom prst="rect">
            <a:avLst/>
          </a:prstGeom>
          <a:noFill/>
          <a:ln/>
        </p:spPr>
        <p:txBody>
          <a:bodyPr wrap="square" rtlCol="0" anchor="t"/>
          <a:lstStyle/>
          <a:p>
            <a:pPr marL="0" indent="0" algn="l">
              <a:lnSpc>
                <a:spcPct val="110000"/>
              </a:lnSpc>
              <a:buNone/>
            </a:pPr>
            <a:r>
              <a:rPr lang="en-US" sz="730" dirty="0">
                <a:solidFill>
                  <a:srgbClr val="1A1A2E"/>
                </a:solidFill>
                <a:latin typeface="Calibri" pitchFamily="34" charset="0"/>
                <a:ea typeface="Calibri" pitchFamily="34" charset="-122"/>
                <a:cs typeface="Calibri" pitchFamily="34" charset="-120"/>
              </a:rPr>
              <a:t>This project explores how well deep learning models handle two medical imaging tasks simultaneously: </a:t>
            </a:r>
            <a:r>
              <a:rPr lang="en-US" sz="730" b="1" dirty="0">
                <a:solidFill>
                  <a:srgbClr val="1A1A2E"/>
                </a:solidFill>
                <a:latin typeface="Calibri" pitchFamily="34" charset="0"/>
                <a:ea typeface="Calibri" pitchFamily="34" charset="-122"/>
                <a:cs typeface="Calibri" pitchFamily="34" charset="-120"/>
              </a:rPr>
              <a:t>identifying skin lesion types</a:t>
            </a:r>
            <a:r>
              <a:rPr lang="en-US" sz="730" dirty="0">
                <a:solidFill>
                  <a:srgbClr val="1A1A2E"/>
                </a:solidFill>
                <a:latin typeface="Calibri" pitchFamily="34" charset="0"/>
                <a:ea typeface="Calibri" pitchFamily="34" charset="-122"/>
                <a:cs typeface="Calibri" pitchFamily="34" charset="-120"/>
              </a:rPr>
              <a:t> and </a:t>
            </a:r>
            <a:r>
              <a:rPr lang="en-US" sz="730" b="1" dirty="0">
                <a:solidFill>
                  <a:srgbClr val="1A1A2E"/>
                </a:solidFill>
                <a:latin typeface="Calibri" pitchFamily="34" charset="0"/>
                <a:ea typeface="Calibri" pitchFamily="34" charset="-122"/>
                <a:cs typeface="Calibri" pitchFamily="34" charset="-120"/>
              </a:rPr>
              <a:t>estimating patient age.</a:t>
            </a:r>
            <a:r>
              <a:rPr lang="en-US" sz="730" dirty="0">
                <a:solidFill>
                  <a:srgbClr val="1A1A2E"/>
                </a:solidFill>
                <a:latin typeface="Calibri" pitchFamily="34" charset="0"/>
                <a:ea typeface="Calibri" pitchFamily="34" charset="-122"/>
                <a:cs typeface="Calibri" pitchFamily="34" charset="-120"/>
              </a:rPr>
              <a:t> Using the ISIC 2019 dataset (25,331 dermoscopic images, 8 categories), VGG16 and ResNet50 were trained for classification and regression. Data augmentation, class weighting, and leak-proof data splitting were applied. Grad-CAM and Grad-CAM++ heatmaps provide visual interpretability. </a:t>
            </a:r>
            <a:r>
              <a:rPr lang="en-US" sz="730" b="1" dirty="0">
                <a:solidFill>
                  <a:srgbClr val="1A1A2E"/>
                </a:solidFill>
                <a:latin typeface="Calibri" pitchFamily="34" charset="0"/>
                <a:ea typeface="Calibri" pitchFamily="34" charset="-122"/>
                <a:cs typeface="Calibri" pitchFamily="34" charset="-120"/>
              </a:rPr>
              <a:t>ResNet50 outperformed VGG16</a:t>
            </a:r>
            <a:r>
              <a:rPr lang="en-US" sz="730" dirty="0">
                <a:solidFill>
                  <a:srgbClr val="1A1A2E"/>
                </a:solidFill>
                <a:latin typeface="Calibri" pitchFamily="34" charset="0"/>
                <a:ea typeface="Calibri" pitchFamily="34" charset="-122"/>
                <a:cs typeface="Calibri" pitchFamily="34" charset="-120"/>
              </a:rPr>
              <a:t> on both tasks (68.82% accuracy; 10.34 yr MAE), demonstrating CNNs can support dual medical tasks efficiently.</a:t>
            </a:r>
            <a:endParaRPr lang="en-US" sz="730" dirty="0"/>
          </a:p>
        </p:txBody>
      </p:sp>
      <p:sp>
        <p:nvSpPr>
          <p:cNvPr id="61" name="Shape 49"/>
          <p:cNvSpPr/>
          <p:nvPr/>
        </p:nvSpPr>
        <p:spPr>
          <a:xfrm>
            <a:off x="6108192" y="3017520"/>
            <a:ext cx="2816352" cy="256032"/>
          </a:xfrm>
          <a:prstGeom prst="rect">
            <a:avLst/>
          </a:prstGeom>
          <a:solidFill>
            <a:srgbClr val="2E5FA3"/>
          </a:solidFill>
          <a:ln w="12700">
            <a:solidFill>
              <a:srgbClr val="2E5FA3"/>
            </a:solidFill>
            <a:prstDash val="solid"/>
          </a:ln>
        </p:spPr>
        <p:txBody>
          <a:bodyPr/>
          <a:lstStyle/>
          <a:p>
            <a:endParaRPr lang="en-US"/>
          </a:p>
        </p:txBody>
      </p:sp>
      <p:sp>
        <p:nvSpPr>
          <p:cNvPr id="62" name="Text 50"/>
          <p:cNvSpPr/>
          <p:nvPr/>
        </p:nvSpPr>
        <p:spPr>
          <a:xfrm>
            <a:off x="6108192" y="3017520"/>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Conclusion</a:t>
            </a:r>
            <a:endParaRPr lang="en-US" sz="950" dirty="0"/>
          </a:p>
        </p:txBody>
      </p:sp>
      <p:sp>
        <p:nvSpPr>
          <p:cNvPr id="63" name="Text 51"/>
          <p:cNvSpPr/>
          <p:nvPr/>
        </p:nvSpPr>
        <p:spPr>
          <a:xfrm>
            <a:off x="6108192" y="3291840"/>
            <a:ext cx="2816352" cy="1645920"/>
          </a:xfrm>
          <a:prstGeom prst="rect">
            <a:avLst/>
          </a:prstGeom>
          <a:noFill/>
          <a:ln/>
        </p:spPr>
        <p:txBody>
          <a:bodyPr wrap="square" rtlCol="0" anchor="t"/>
          <a:lstStyle/>
          <a:p>
            <a:pPr marL="0" indent="0" algn="l">
              <a:lnSpc>
                <a:spcPct val="110000"/>
              </a:lnSpc>
              <a:buNone/>
            </a:pPr>
            <a:r>
              <a:rPr lang="en-US" sz="730" dirty="0">
                <a:solidFill>
                  <a:srgbClr val="1A1A2E"/>
                </a:solidFill>
                <a:latin typeface="Calibri" pitchFamily="34" charset="0"/>
                <a:ea typeface="Calibri" pitchFamily="34" charset="-122"/>
                <a:cs typeface="Calibri" pitchFamily="34" charset="-120"/>
              </a:rPr>
              <a:t>This project demonstrates that a single CNN can successfully perform dual medical tasks on dermoscopic images. Key findings:
</a:t>
            </a:r>
            <a:r>
              <a:rPr lang="en-US" sz="730" b="1" dirty="0">
                <a:solidFill>
                  <a:srgbClr val="2E5FA3"/>
                </a:solidFill>
                <a:latin typeface="Calibri" pitchFamily="34" charset="0"/>
                <a:ea typeface="Calibri" pitchFamily="34" charset="-122"/>
                <a:cs typeface="Calibri" pitchFamily="34" charset="-120"/>
              </a:rPr>
              <a:t>ResNet50 Wins Both Tasks:</a:t>
            </a:r>
            <a:r>
              <a:rPr lang="en-US" sz="730" dirty="0">
                <a:solidFill>
                  <a:srgbClr val="1A1A2E"/>
                </a:solidFill>
                <a:latin typeface="Calibri" pitchFamily="34" charset="0"/>
                <a:ea typeface="Calibri" pitchFamily="34" charset="-122"/>
                <a:cs typeface="Calibri" pitchFamily="34" charset="-120"/>
              </a:rPr>
              <a:t> 68.82% accuracy and 0.5423 Macro F1 for classification; 10.34 yr MAE and R²=0.3736 for age regression — outperforming VGG16 in all metrics.
</a:t>
            </a:r>
            <a:r>
              <a:rPr lang="en-US" sz="730" b="1" dirty="0">
                <a:solidFill>
                  <a:srgbClr val="2E5FA3"/>
                </a:solidFill>
                <a:latin typeface="Calibri" pitchFamily="34" charset="0"/>
                <a:ea typeface="Calibri" pitchFamily="34" charset="-122"/>
                <a:cs typeface="Calibri" pitchFamily="34" charset="-120"/>
              </a:rPr>
              <a:t>Grad-CAM Validates Focus:</a:t>
            </a:r>
            <a:r>
              <a:rPr lang="en-US" sz="730" dirty="0">
                <a:solidFill>
                  <a:srgbClr val="1A1A2E"/>
                </a:solidFill>
                <a:latin typeface="Calibri" pitchFamily="34" charset="0"/>
                <a:ea typeface="Calibri" pitchFamily="34" charset="-122"/>
                <a:cs typeface="Calibri" pitchFamily="34" charset="-120"/>
              </a:rPr>
              <a:t> Heatmaps confirm classification models focus on lesion regions. Regression attention is more diffuse — matching the difficulty of image-only age estimation.
</a:t>
            </a:r>
            <a:r>
              <a:rPr lang="en-US" sz="730" b="1" dirty="0">
                <a:solidFill>
                  <a:srgbClr val="2E5FA3"/>
                </a:solidFill>
                <a:latin typeface="Calibri" pitchFamily="34" charset="0"/>
                <a:ea typeface="Calibri" pitchFamily="34" charset="-122"/>
                <a:cs typeface="Calibri" pitchFamily="34" charset="-120"/>
              </a:rPr>
              <a:t>Efficiency Matters:</a:t>
            </a:r>
            <a:r>
              <a:rPr lang="en-US" sz="730" dirty="0">
                <a:solidFill>
                  <a:srgbClr val="1A1A2E"/>
                </a:solidFill>
                <a:latin typeface="Calibri" pitchFamily="34" charset="0"/>
                <a:ea typeface="Calibri" pitchFamily="34" charset="-122"/>
                <a:cs typeface="Calibri" pitchFamily="34" charset="-120"/>
              </a:rPr>
              <a:t> ResNet50 achieves better results with 40% fewer parameters than VGG16, making it more viable for real-world deployment.
</a:t>
            </a:r>
            <a:r>
              <a:rPr lang="en-US" sz="730" b="1" dirty="0">
                <a:solidFill>
                  <a:srgbClr val="E8512A"/>
                </a:solidFill>
                <a:latin typeface="Calibri" pitchFamily="34" charset="0"/>
                <a:ea typeface="Calibri" pitchFamily="34" charset="-122"/>
                <a:cs typeface="Calibri" pitchFamily="34" charset="-120"/>
              </a:rPr>
              <a:t>Limitations:</a:t>
            </a:r>
            <a:r>
              <a:rPr lang="en-US" sz="730" dirty="0">
                <a:solidFill>
                  <a:srgbClr val="1A1A2E"/>
                </a:solidFill>
                <a:latin typeface="Calibri" pitchFamily="34" charset="0"/>
                <a:ea typeface="Calibri" pitchFamily="34" charset="-122"/>
                <a:cs typeface="Calibri" pitchFamily="34" charset="-120"/>
              </a:rPr>
              <a:t> Class imbalance, image-only input, and limited architectures tested. Future work should incorporate clinical metadata (sex, location), test EfficientNet and vision transformers, and build true multi-task networks.</a:t>
            </a:r>
            <a:endParaRPr lang="en-US" sz="730" dirty="0"/>
          </a:p>
        </p:txBody>
      </p:sp>
      <p:sp>
        <p:nvSpPr>
          <p:cNvPr id="64" name="Shape 52"/>
          <p:cNvSpPr/>
          <p:nvPr/>
        </p:nvSpPr>
        <p:spPr>
          <a:xfrm>
            <a:off x="6103618" y="5862828"/>
            <a:ext cx="877824" cy="658368"/>
          </a:xfrm>
          <a:prstGeom prst="rect">
            <a:avLst/>
          </a:prstGeom>
          <a:solidFill>
            <a:srgbClr val="2E5FA3"/>
          </a:solidFill>
          <a:ln w="12700">
            <a:solidFill>
              <a:srgbClr val="2E5FA3"/>
            </a:solidFill>
            <a:prstDash val="solid"/>
          </a:ln>
        </p:spPr>
        <p:txBody>
          <a:bodyPr/>
          <a:lstStyle/>
          <a:p>
            <a:endParaRPr lang="en-US"/>
          </a:p>
        </p:txBody>
      </p:sp>
      <p:sp>
        <p:nvSpPr>
          <p:cNvPr id="65" name="Text 53"/>
          <p:cNvSpPr/>
          <p:nvPr/>
        </p:nvSpPr>
        <p:spPr>
          <a:xfrm>
            <a:off x="6103618" y="5899404"/>
            <a:ext cx="877824" cy="58521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68.82%
</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ResNet50</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Accuracy</a:t>
            </a:r>
            <a:endParaRPr lang="en-US" sz="1500" dirty="0"/>
          </a:p>
        </p:txBody>
      </p:sp>
      <p:sp>
        <p:nvSpPr>
          <p:cNvPr id="66" name="Shape 54"/>
          <p:cNvSpPr/>
          <p:nvPr/>
        </p:nvSpPr>
        <p:spPr>
          <a:xfrm>
            <a:off x="7054594" y="5862828"/>
            <a:ext cx="877824" cy="658368"/>
          </a:xfrm>
          <a:prstGeom prst="rect">
            <a:avLst/>
          </a:prstGeom>
          <a:solidFill>
            <a:srgbClr val="E8512A"/>
          </a:solidFill>
          <a:ln w="12700">
            <a:solidFill>
              <a:srgbClr val="E8512A"/>
            </a:solidFill>
            <a:prstDash val="solid"/>
          </a:ln>
        </p:spPr>
        <p:txBody>
          <a:bodyPr/>
          <a:lstStyle/>
          <a:p>
            <a:endParaRPr lang="en-US"/>
          </a:p>
        </p:txBody>
      </p:sp>
      <p:sp>
        <p:nvSpPr>
          <p:cNvPr id="67" name="Text 55"/>
          <p:cNvSpPr/>
          <p:nvPr/>
        </p:nvSpPr>
        <p:spPr>
          <a:xfrm>
            <a:off x="7054594" y="5899404"/>
            <a:ext cx="877824" cy="58521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10.34
</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MAE</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(years)</a:t>
            </a:r>
            <a:endParaRPr lang="en-US" sz="1500" dirty="0"/>
          </a:p>
        </p:txBody>
      </p:sp>
      <p:sp>
        <p:nvSpPr>
          <p:cNvPr id="68" name="Shape 56"/>
          <p:cNvSpPr/>
          <p:nvPr/>
        </p:nvSpPr>
        <p:spPr>
          <a:xfrm>
            <a:off x="8023858" y="5862828"/>
            <a:ext cx="877824" cy="658368"/>
          </a:xfrm>
          <a:prstGeom prst="rect">
            <a:avLst/>
          </a:prstGeom>
          <a:solidFill>
            <a:srgbClr val="1B3A6B"/>
          </a:solidFill>
          <a:ln w="12700">
            <a:solidFill>
              <a:srgbClr val="1B3A6B"/>
            </a:solidFill>
            <a:prstDash val="solid"/>
          </a:ln>
        </p:spPr>
        <p:txBody>
          <a:bodyPr/>
          <a:lstStyle/>
          <a:p>
            <a:endParaRPr lang="en-US"/>
          </a:p>
        </p:txBody>
      </p:sp>
      <p:sp>
        <p:nvSpPr>
          <p:cNvPr id="69" name="Text 57"/>
          <p:cNvSpPr/>
          <p:nvPr/>
        </p:nvSpPr>
        <p:spPr>
          <a:xfrm>
            <a:off x="8023858" y="5899404"/>
            <a:ext cx="877824" cy="58521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24.6M
</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ResNet50</a:t>
            </a:r>
            <a:endParaRPr lang="en-US" sz="1500" dirty="0"/>
          </a:p>
          <a:p>
            <a:pPr marL="0" indent="0" algn="ctr">
              <a:buNone/>
            </a:pPr>
            <a:r>
              <a:rPr lang="en-US" sz="550" dirty="0">
                <a:solidFill>
                  <a:srgbClr val="FFFFFF"/>
                </a:solidFill>
                <a:latin typeface="Calibri" pitchFamily="34" charset="0"/>
                <a:ea typeface="Calibri" pitchFamily="34" charset="-122"/>
                <a:cs typeface="Calibri" pitchFamily="34" charset="-120"/>
              </a:rPr>
              <a:t>Params</a:t>
            </a:r>
            <a:endParaRPr lang="en-US" sz="1500" dirty="0"/>
          </a:p>
        </p:txBody>
      </p:sp>
      <p:sp>
        <p:nvSpPr>
          <p:cNvPr id="70" name="Shape 58"/>
          <p:cNvSpPr/>
          <p:nvPr/>
        </p:nvSpPr>
        <p:spPr>
          <a:xfrm>
            <a:off x="6085330" y="6883908"/>
            <a:ext cx="2816352" cy="256032"/>
          </a:xfrm>
          <a:prstGeom prst="rect">
            <a:avLst/>
          </a:prstGeom>
          <a:solidFill>
            <a:srgbClr val="2E5FA3"/>
          </a:solidFill>
          <a:ln w="12700">
            <a:solidFill>
              <a:srgbClr val="2E5FA3"/>
            </a:solidFill>
            <a:prstDash val="solid"/>
          </a:ln>
        </p:spPr>
        <p:txBody>
          <a:bodyPr/>
          <a:lstStyle/>
          <a:p>
            <a:endParaRPr lang="en-US"/>
          </a:p>
        </p:txBody>
      </p:sp>
      <p:sp>
        <p:nvSpPr>
          <p:cNvPr id="71" name="Text 59"/>
          <p:cNvSpPr/>
          <p:nvPr/>
        </p:nvSpPr>
        <p:spPr>
          <a:xfrm>
            <a:off x="6085330" y="6883908"/>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References</a:t>
            </a:r>
            <a:endParaRPr lang="en-US" sz="950" dirty="0"/>
          </a:p>
        </p:txBody>
      </p:sp>
      <p:sp>
        <p:nvSpPr>
          <p:cNvPr id="72" name="Text 60"/>
          <p:cNvSpPr/>
          <p:nvPr/>
        </p:nvSpPr>
        <p:spPr>
          <a:xfrm>
            <a:off x="6085330" y="7158228"/>
            <a:ext cx="2816352" cy="1554480"/>
          </a:xfrm>
          <a:prstGeom prst="rect">
            <a:avLst/>
          </a:prstGeom>
          <a:noFill/>
          <a:ln/>
        </p:spPr>
        <p:txBody>
          <a:bodyPr wrap="square" rtlCol="0" anchor="t"/>
          <a:lstStyle/>
          <a:p>
            <a:pPr marL="0" indent="0" algn="l">
              <a:lnSpc>
                <a:spcPct val="110000"/>
              </a:lnSpc>
              <a:buNone/>
            </a:pPr>
            <a:r>
              <a:rPr lang="en-US" sz="700" dirty="0">
                <a:solidFill>
                  <a:srgbClr val="1A1A2E"/>
                </a:solidFill>
                <a:latin typeface="Calibri" pitchFamily="34" charset="0"/>
                <a:ea typeface="Calibri" pitchFamily="34" charset="-122"/>
                <a:cs typeface="Calibri" pitchFamily="34" charset="-120"/>
              </a:rPr>
              <a:t>[1] ISIC 2019 Challenge Dataset. International Skin Imaging Collaboration, 2019. https://challenge.isic-archive.com
</a:t>
            </a:r>
            <a:r>
              <a:rPr lang="en-US" sz="700" i="1" dirty="0">
                <a:solidFill>
                  <a:srgbClr val="1A1A2E"/>
                </a:solidFill>
                <a:latin typeface="Calibri" pitchFamily="34" charset="0"/>
                <a:ea typeface="Calibri" pitchFamily="34" charset="-122"/>
                <a:cs typeface="Calibri" pitchFamily="34" charset="-120"/>
              </a:rPr>
              <a:t>[2] P. Tschandl et al., "The HAM10000 dataset, a large collection of multi-source dermatoscopic images," Scientific Data</a:t>
            </a:r>
            <a:r>
              <a:rPr lang="en-US" sz="700" dirty="0">
                <a:solidFill>
                  <a:srgbClr val="1A1A2E"/>
                </a:solidFill>
                <a:latin typeface="Calibri" pitchFamily="34" charset="0"/>
                <a:ea typeface="Calibri" pitchFamily="34" charset="-122"/>
                <a:cs typeface="Calibri" pitchFamily="34" charset="-120"/>
              </a:rPr>
              <a:t>, vol. 5, p. 180161, 2018.
</a:t>
            </a:r>
            <a:r>
              <a:rPr lang="en-US" sz="700" i="1" dirty="0">
                <a:solidFill>
                  <a:srgbClr val="1A1A2E"/>
                </a:solidFill>
                <a:latin typeface="Calibri" pitchFamily="34" charset="0"/>
                <a:ea typeface="Calibri" pitchFamily="34" charset="-122"/>
                <a:cs typeface="Calibri" pitchFamily="34" charset="-120"/>
              </a:rPr>
              <a:t>[3] K. Simonyan &amp; A. Zisserman, "Very deep convolutional networks for large-scale image recognition," arXiv:1409.1556</a:t>
            </a:r>
            <a:r>
              <a:rPr lang="en-US" sz="700" dirty="0">
                <a:solidFill>
                  <a:srgbClr val="1A1A2E"/>
                </a:solidFill>
                <a:latin typeface="Calibri" pitchFamily="34" charset="0"/>
                <a:ea typeface="Calibri" pitchFamily="34" charset="-122"/>
                <a:cs typeface="Calibri" pitchFamily="34" charset="-120"/>
              </a:rPr>
              <a:t>, 2014.
</a:t>
            </a:r>
            <a:r>
              <a:rPr lang="en-US" sz="700" i="1" dirty="0">
                <a:solidFill>
                  <a:srgbClr val="1A1A2E"/>
                </a:solidFill>
                <a:latin typeface="Calibri" pitchFamily="34" charset="0"/>
                <a:ea typeface="Calibri" pitchFamily="34" charset="-122"/>
                <a:cs typeface="Calibri" pitchFamily="34" charset="-120"/>
              </a:rPr>
              <a:t>[4] K. He et al., "Deep residual learning for image recognition," CVPR</a:t>
            </a:r>
            <a:r>
              <a:rPr lang="en-US" sz="700" dirty="0">
                <a:solidFill>
                  <a:srgbClr val="1A1A2E"/>
                </a:solidFill>
                <a:latin typeface="Calibri" pitchFamily="34" charset="0"/>
                <a:ea typeface="Calibri" pitchFamily="34" charset="-122"/>
                <a:cs typeface="Calibri" pitchFamily="34" charset="-120"/>
              </a:rPr>
              <a:t>, 2016, pp. 770–778.
</a:t>
            </a:r>
            <a:r>
              <a:rPr lang="en-US" sz="700" i="1" dirty="0">
                <a:solidFill>
                  <a:srgbClr val="1A1A2E"/>
                </a:solidFill>
                <a:latin typeface="Calibri" pitchFamily="34" charset="0"/>
                <a:ea typeface="Calibri" pitchFamily="34" charset="-122"/>
                <a:cs typeface="Calibri" pitchFamily="34" charset="-120"/>
              </a:rPr>
              <a:t>[5] R. R. Selvaraju et al., "Grad-CAM: Visual explanations from deep networks," IJCV</a:t>
            </a:r>
            <a:r>
              <a:rPr lang="en-US" sz="700" dirty="0">
                <a:solidFill>
                  <a:srgbClr val="1A1A2E"/>
                </a:solidFill>
                <a:latin typeface="Calibri" pitchFamily="34" charset="0"/>
                <a:ea typeface="Calibri" pitchFamily="34" charset="-122"/>
                <a:cs typeface="Calibri" pitchFamily="34" charset="-120"/>
              </a:rPr>
              <a:t>, vol. 128, pp. 336–359, 2020.
</a:t>
            </a:r>
            <a:r>
              <a:rPr lang="en-US" sz="700" i="1" dirty="0">
                <a:solidFill>
                  <a:srgbClr val="1A1A2E"/>
                </a:solidFill>
                <a:latin typeface="Calibri" pitchFamily="34" charset="0"/>
                <a:ea typeface="Calibri" pitchFamily="34" charset="-122"/>
                <a:cs typeface="Calibri" pitchFamily="34" charset="-120"/>
              </a:rPr>
              <a:t>[6] A. Chattopadhay et al., "Grad-CAM++: Generalized gradient-based visual explanations," WACV</a:t>
            </a:r>
            <a:r>
              <a:rPr lang="en-US" sz="700" dirty="0">
                <a:solidFill>
                  <a:srgbClr val="1A1A2E"/>
                </a:solidFill>
                <a:latin typeface="Calibri" pitchFamily="34" charset="0"/>
                <a:ea typeface="Calibri" pitchFamily="34" charset="-122"/>
                <a:cs typeface="Calibri" pitchFamily="34" charset="-120"/>
              </a:rPr>
              <a:t>, 2018, pp. 839–847.</a:t>
            </a:r>
            <a:endParaRPr lang="en-US" sz="700" dirty="0"/>
          </a:p>
        </p:txBody>
      </p:sp>
      <p:sp>
        <p:nvSpPr>
          <p:cNvPr id="73" name="Shape 61"/>
          <p:cNvSpPr/>
          <p:nvPr/>
        </p:nvSpPr>
        <p:spPr>
          <a:xfrm>
            <a:off x="6085330" y="8822436"/>
            <a:ext cx="2816352" cy="256032"/>
          </a:xfrm>
          <a:prstGeom prst="rect">
            <a:avLst/>
          </a:prstGeom>
          <a:solidFill>
            <a:srgbClr val="2E5FA3"/>
          </a:solidFill>
          <a:ln w="12700">
            <a:solidFill>
              <a:srgbClr val="2E5FA3"/>
            </a:solidFill>
            <a:prstDash val="solid"/>
          </a:ln>
        </p:spPr>
        <p:txBody>
          <a:bodyPr/>
          <a:lstStyle/>
          <a:p>
            <a:endParaRPr lang="en-US"/>
          </a:p>
        </p:txBody>
      </p:sp>
      <p:sp>
        <p:nvSpPr>
          <p:cNvPr id="74" name="Text 62"/>
          <p:cNvSpPr/>
          <p:nvPr/>
        </p:nvSpPr>
        <p:spPr>
          <a:xfrm>
            <a:off x="6085330" y="8822436"/>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Acknowledgement</a:t>
            </a:r>
            <a:endParaRPr lang="en-US" sz="950" dirty="0"/>
          </a:p>
        </p:txBody>
      </p:sp>
      <p:sp>
        <p:nvSpPr>
          <p:cNvPr id="75" name="Text 63"/>
          <p:cNvSpPr/>
          <p:nvPr/>
        </p:nvSpPr>
        <p:spPr>
          <a:xfrm>
            <a:off x="6085330" y="9096756"/>
            <a:ext cx="2816352" cy="731520"/>
          </a:xfrm>
          <a:prstGeom prst="rect">
            <a:avLst/>
          </a:prstGeom>
          <a:noFill/>
          <a:ln/>
        </p:spPr>
        <p:txBody>
          <a:bodyPr wrap="square" rtlCol="0" anchor="t"/>
          <a:lstStyle/>
          <a:p>
            <a:pPr marL="0" indent="0" algn="l">
              <a:lnSpc>
                <a:spcPct val="110000"/>
              </a:lnSpc>
              <a:buNone/>
            </a:pPr>
            <a:r>
              <a:rPr lang="en-US" sz="730" dirty="0">
                <a:solidFill>
                  <a:srgbClr val="1A1A2E"/>
                </a:solidFill>
                <a:latin typeface="Calibri" pitchFamily="34" charset="0"/>
                <a:ea typeface="Calibri" pitchFamily="34" charset="-122"/>
                <a:cs typeface="Calibri" pitchFamily="34" charset="-120"/>
              </a:rPr>
              <a:t>The authors thank the </a:t>
            </a:r>
            <a:r>
              <a:rPr lang="en-US" sz="730" b="1" dirty="0">
                <a:solidFill>
                  <a:srgbClr val="1A1A2E"/>
                </a:solidFill>
                <a:latin typeface="Calibri" pitchFamily="34" charset="0"/>
                <a:ea typeface="Calibri" pitchFamily="34" charset="-122"/>
                <a:cs typeface="Calibri" pitchFamily="34" charset="-120"/>
              </a:rPr>
              <a:t>International Skin Imaging Collaboration (ISIC)</a:t>
            </a:r>
            <a:r>
              <a:rPr lang="en-US" sz="730" dirty="0">
                <a:solidFill>
                  <a:srgbClr val="1A1A2E"/>
                </a:solidFill>
                <a:latin typeface="Calibri" pitchFamily="34" charset="0"/>
                <a:ea typeface="Calibri" pitchFamily="34" charset="-122"/>
                <a:cs typeface="Calibri" pitchFamily="34" charset="-120"/>
              </a:rPr>
              <a:t> for providing the publicly available ISIC 2019 dermoscopic image dataset. We also acknowledge the </a:t>
            </a:r>
            <a:r>
              <a:rPr lang="en-US" sz="730" b="1" dirty="0">
                <a:solidFill>
                  <a:srgbClr val="1A1A2E"/>
                </a:solidFill>
                <a:latin typeface="Calibri" pitchFamily="34" charset="0"/>
                <a:ea typeface="Calibri" pitchFamily="34" charset="-122"/>
                <a:cs typeface="Calibri" pitchFamily="34" charset="-120"/>
              </a:rPr>
              <a:t>Department of Computer Science, AIUB</a:t>
            </a:r>
            <a:r>
              <a:rPr lang="en-US" sz="730" dirty="0">
                <a:solidFill>
                  <a:srgbClr val="1A1A2E"/>
                </a:solidFill>
                <a:latin typeface="Calibri" pitchFamily="34" charset="0"/>
                <a:ea typeface="Calibri" pitchFamily="34" charset="-122"/>
                <a:cs typeface="Calibri" pitchFamily="34" charset="-120"/>
              </a:rPr>
              <a:t>, for academic support and resources. This project was conducted as part of the CVPR course requirement.</a:t>
            </a:r>
            <a:endParaRPr lang="en-US" sz="730" dirty="0"/>
          </a:p>
        </p:txBody>
      </p:sp>
      <p:sp>
        <p:nvSpPr>
          <p:cNvPr id="76" name="Shape 64"/>
          <p:cNvSpPr/>
          <p:nvPr/>
        </p:nvSpPr>
        <p:spPr>
          <a:xfrm>
            <a:off x="6085330" y="9928860"/>
            <a:ext cx="2816352" cy="256032"/>
          </a:xfrm>
          <a:prstGeom prst="rect">
            <a:avLst/>
          </a:prstGeom>
          <a:solidFill>
            <a:srgbClr val="2E5FA3"/>
          </a:solidFill>
          <a:ln w="12700">
            <a:solidFill>
              <a:srgbClr val="2E5FA3"/>
            </a:solidFill>
            <a:prstDash val="solid"/>
          </a:ln>
        </p:spPr>
        <p:txBody>
          <a:bodyPr/>
          <a:lstStyle/>
          <a:p>
            <a:endParaRPr lang="en-US"/>
          </a:p>
        </p:txBody>
      </p:sp>
      <p:sp>
        <p:nvSpPr>
          <p:cNvPr id="77" name="Text 65"/>
          <p:cNvSpPr/>
          <p:nvPr/>
        </p:nvSpPr>
        <p:spPr>
          <a:xfrm>
            <a:off x="6085330" y="9928860"/>
            <a:ext cx="2816352" cy="256032"/>
          </a:xfrm>
          <a:prstGeom prst="rect">
            <a:avLst/>
          </a:prstGeom>
          <a:noFill/>
          <a:ln/>
        </p:spPr>
        <p:txBody>
          <a:bodyPr wrap="square" lIns="0" tIns="7620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Index Terms</a:t>
            </a:r>
            <a:endParaRPr lang="en-US" sz="950" dirty="0"/>
          </a:p>
        </p:txBody>
      </p:sp>
      <p:sp>
        <p:nvSpPr>
          <p:cNvPr id="78" name="Text 66"/>
          <p:cNvSpPr/>
          <p:nvPr/>
        </p:nvSpPr>
        <p:spPr>
          <a:xfrm>
            <a:off x="6085330" y="10203180"/>
            <a:ext cx="2816352" cy="502920"/>
          </a:xfrm>
          <a:prstGeom prst="rect">
            <a:avLst/>
          </a:prstGeom>
          <a:solidFill>
            <a:srgbClr val="EEF3FB"/>
          </a:solidFill>
          <a:ln/>
        </p:spPr>
        <p:txBody>
          <a:bodyPr wrap="square" lIns="50800" tIns="76200" rIns="76200" bIns="50800" rtlCol="0" anchor="ctr"/>
          <a:lstStyle/>
          <a:p>
            <a:pPr marL="0" indent="0">
              <a:buNone/>
            </a:pPr>
            <a:r>
              <a:rPr lang="en-US" sz="730" dirty="0">
                <a:solidFill>
                  <a:srgbClr val="1A1A2E"/>
                </a:solidFill>
                <a:latin typeface="Calibri" pitchFamily="34" charset="0"/>
                <a:ea typeface="Calibri" pitchFamily="34" charset="-122"/>
                <a:cs typeface="Calibri" pitchFamily="34" charset="-120"/>
              </a:rPr>
              <a:t>Skin Lesion Classification  •  Age Regression  •  ISIC 2019  •  VGG16  •  ResNet50  •  Grad-CAM  •  Grad-CAM++  •  Medical Imaging  •  Deep Learning  •  CNN  •  Class Imbalance</a:t>
            </a:r>
            <a:endParaRPr lang="en-US" sz="730" dirty="0"/>
          </a:p>
        </p:txBody>
      </p:sp>
      <p:sp>
        <p:nvSpPr>
          <p:cNvPr id="79" name="Shape 67"/>
          <p:cNvSpPr/>
          <p:nvPr/>
        </p:nvSpPr>
        <p:spPr>
          <a:xfrm>
            <a:off x="3026664" y="1572768"/>
            <a:ext cx="0" cy="11100816"/>
          </a:xfrm>
          <a:prstGeom prst="line">
            <a:avLst/>
          </a:prstGeom>
          <a:noFill/>
          <a:ln w="9525">
            <a:solidFill>
              <a:srgbClr val="3D72C6"/>
            </a:solidFill>
            <a:prstDash val="solid"/>
          </a:ln>
        </p:spPr>
        <p:txBody>
          <a:bodyPr/>
          <a:lstStyle/>
          <a:p>
            <a:endParaRPr lang="en-US"/>
          </a:p>
        </p:txBody>
      </p:sp>
      <p:sp>
        <p:nvSpPr>
          <p:cNvPr id="80" name="Shape 68"/>
          <p:cNvSpPr/>
          <p:nvPr/>
        </p:nvSpPr>
        <p:spPr>
          <a:xfrm>
            <a:off x="5998464" y="1572768"/>
            <a:ext cx="0" cy="11100816"/>
          </a:xfrm>
          <a:prstGeom prst="line">
            <a:avLst/>
          </a:prstGeom>
          <a:noFill/>
          <a:ln w="9525">
            <a:solidFill>
              <a:srgbClr val="3D72C6"/>
            </a:solidFill>
            <a:prstDash val="solid"/>
          </a:ln>
        </p:spPr>
        <p:txBody>
          <a:bodyPr/>
          <a:lstStyle/>
          <a:p>
            <a:endParaRPr lang="en-US"/>
          </a:p>
        </p:txBody>
      </p:sp>
      <p:sp>
        <p:nvSpPr>
          <p:cNvPr id="81" name="Shape 69"/>
          <p:cNvSpPr/>
          <p:nvPr/>
        </p:nvSpPr>
        <p:spPr>
          <a:xfrm>
            <a:off x="0" y="12673584"/>
            <a:ext cx="9144000" cy="256032"/>
          </a:xfrm>
          <a:prstGeom prst="rect">
            <a:avLst/>
          </a:prstGeom>
          <a:solidFill>
            <a:srgbClr val="1B3A6B"/>
          </a:solidFill>
          <a:ln w="12700">
            <a:solidFill>
              <a:srgbClr val="1B3A6B"/>
            </a:solidFill>
            <a:prstDash val="solid"/>
          </a:ln>
        </p:spPr>
        <p:txBody>
          <a:bodyPr/>
          <a:lstStyle/>
          <a:p>
            <a:endParaRPr lang="en-US"/>
          </a:p>
        </p:txBody>
      </p:sp>
      <p:sp>
        <p:nvSpPr>
          <p:cNvPr id="82" name="Text 70"/>
          <p:cNvSpPr/>
          <p:nvPr/>
        </p:nvSpPr>
        <p:spPr>
          <a:xfrm>
            <a:off x="0" y="12673584"/>
            <a:ext cx="9144000" cy="25603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Department of Computer Science, Faculty of Science and Technology  |  American International University-Bangladesh (AIUB)</a:t>
            </a:r>
            <a:endParaRPr lang="en-US" sz="700" dirty="0"/>
          </a:p>
        </p:txBody>
      </p:sp>
      <p:sp>
        <p:nvSpPr>
          <p:cNvPr id="84" name="TextBox 83">
            <a:extLst>
              <a:ext uri="{FF2B5EF4-FFF2-40B4-BE49-F238E27FC236}">
                <a16:creationId xmlns:a16="http://schemas.microsoft.com/office/drawing/2014/main" id="{498C5BC6-888E-EA3A-7B3A-04986E30C792}"/>
              </a:ext>
            </a:extLst>
          </p:cNvPr>
          <p:cNvSpPr txBox="1"/>
          <p:nvPr/>
        </p:nvSpPr>
        <p:spPr>
          <a:xfrm>
            <a:off x="146306" y="7013032"/>
            <a:ext cx="2716783" cy="627288"/>
          </a:xfrm>
          <a:prstGeom prst="rect">
            <a:avLst/>
          </a:prstGeom>
          <a:noFill/>
        </p:spPr>
        <p:txBody>
          <a:bodyPr wrap="square">
            <a:spAutoFit/>
          </a:bodyPr>
          <a:lstStyle/>
          <a:p>
            <a:pPr marL="0" indent="0" algn="l">
              <a:lnSpc>
                <a:spcPct val="110000"/>
              </a:lnSpc>
              <a:buNone/>
            </a:pPr>
            <a:r>
              <a:rPr lang="en-US" sz="800" dirty="0">
                <a:solidFill>
                  <a:srgbClr val="1A1A2E"/>
                </a:solidFill>
                <a:latin typeface="Calibri" pitchFamily="34" charset="0"/>
                <a:ea typeface="Calibri" pitchFamily="34" charset="-122"/>
                <a:cs typeface="Calibri" pitchFamily="34" charset="-120"/>
              </a:rPr>
              <a:t>Experiments were conducted on the </a:t>
            </a:r>
            <a:endParaRPr lang="en-US" sz="800" dirty="0"/>
          </a:p>
          <a:p>
            <a:pPr marL="0" indent="0" algn="l">
              <a:lnSpc>
                <a:spcPct val="110000"/>
              </a:lnSpc>
              <a:buNone/>
            </a:pPr>
            <a:r>
              <a:rPr lang="en-US" sz="800" b="1" dirty="0">
                <a:solidFill>
                  <a:srgbClr val="1A1A2E"/>
                </a:solidFill>
                <a:latin typeface="Calibri" pitchFamily="34" charset="0"/>
                <a:ea typeface="Calibri" pitchFamily="34" charset="-122"/>
                <a:cs typeface="Calibri" pitchFamily="34" charset="-120"/>
              </a:rPr>
              <a:t>ISIC 2019 dataset</a:t>
            </a:r>
            <a:r>
              <a:rPr lang="en-US" sz="800" dirty="0">
                <a:solidFill>
                  <a:srgbClr val="1A1A2E"/>
                </a:solidFill>
                <a:latin typeface="Calibri" pitchFamily="34" charset="0"/>
                <a:ea typeface="Calibri" pitchFamily="34" charset="-122"/>
                <a:cs typeface="Calibri" pitchFamily="34" charset="-120"/>
              </a:rPr>
              <a:t> (25,331 labeled images, 8 categories) using </a:t>
            </a:r>
            <a:r>
              <a:rPr lang="en-US" sz="800" b="1" dirty="0">
                <a:solidFill>
                  <a:srgbClr val="1A1A2E"/>
                </a:solidFill>
                <a:latin typeface="Calibri" pitchFamily="34" charset="0"/>
                <a:ea typeface="Calibri" pitchFamily="34" charset="-122"/>
                <a:cs typeface="Calibri" pitchFamily="34" charset="-120"/>
              </a:rPr>
              <a:t>VGG16</a:t>
            </a:r>
            <a:r>
              <a:rPr lang="en-US" sz="800" dirty="0">
                <a:solidFill>
                  <a:srgbClr val="1A1A2E"/>
                </a:solidFill>
                <a:latin typeface="Calibri" pitchFamily="34" charset="0"/>
                <a:ea typeface="Calibri" pitchFamily="34" charset="-122"/>
                <a:cs typeface="Calibri" pitchFamily="34" charset="-120"/>
              </a:rPr>
              <a:t> and </a:t>
            </a:r>
            <a:r>
              <a:rPr lang="en-US" sz="800" b="1" dirty="0">
                <a:solidFill>
                  <a:srgbClr val="1A1A2E"/>
                </a:solidFill>
                <a:latin typeface="Calibri" pitchFamily="34" charset="0"/>
                <a:ea typeface="Calibri" pitchFamily="34" charset="-122"/>
                <a:cs typeface="Calibri" pitchFamily="34" charset="-120"/>
              </a:rPr>
              <a:t>ResNet50</a:t>
            </a:r>
            <a:r>
              <a:rPr lang="en-US" sz="800" dirty="0">
                <a:solidFill>
                  <a:srgbClr val="1A1A2E"/>
                </a:solidFill>
                <a:latin typeface="Calibri" pitchFamily="34" charset="0"/>
                <a:ea typeface="Calibri" pitchFamily="34" charset="-122"/>
                <a:cs typeface="Calibri" pitchFamily="34" charset="-120"/>
              </a:rPr>
              <a:t> under identical experimental conditions.</a:t>
            </a:r>
            <a:endParaRPr lang="en-US" sz="800" dirty="0"/>
          </a:p>
        </p:txBody>
      </p:sp>
      <p:pic>
        <p:nvPicPr>
          <p:cNvPr id="87" name="Picture 86">
            <a:extLst>
              <a:ext uri="{FF2B5EF4-FFF2-40B4-BE49-F238E27FC236}">
                <a16:creationId xmlns:a16="http://schemas.microsoft.com/office/drawing/2014/main" id="{243A7D98-9DAE-D2B7-94EB-1B3539CB03F3}"/>
              </a:ext>
            </a:extLst>
          </p:cNvPr>
          <p:cNvPicPr>
            <a:picLocks noChangeAspect="1"/>
          </p:cNvPicPr>
          <p:nvPr/>
        </p:nvPicPr>
        <p:blipFill>
          <a:blip r:embed="rId11"/>
          <a:stretch>
            <a:fillRect/>
          </a:stretch>
        </p:blipFill>
        <p:spPr>
          <a:xfrm>
            <a:off x="8074720" y="186213"/>
            <a:ext cx="826962" cy="8269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1151</Words>
  <Application>Microsoft Office PowerPoint</Application>
  <PresentationFormat>Custom</PresentationFormat>
  <Paragraphs>87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MD:SAKIB HASAN</cp:lastModifiedBy>
  <cp:revision>2</cp:revision>
  <dcterms:created xsi:type="dcterms:W3CDTF">2026-05-19T23:09:48Z</dcterms:created>
  <dcterms:modified xsi:type="dcterms:W3CDTF">2026-05-20T00:03:59Z</dcterms:modified>
</cp:coreProperties>
</file>